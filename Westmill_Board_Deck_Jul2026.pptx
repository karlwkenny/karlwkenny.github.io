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100" b="1">
                <a:solidFill>
                  <a:srgbClr val="1E2B4D"/>
                </a:solidFill>
              </a:rPr>
              <a:t>FY26 monthly sales (CAD)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solidFill>
              <a:srgbClr val="3B7DD8"/>
            </a:solidFill>
          </c:spPr>
          <c:cat>
            <c:strRef>
              <c:f>Sheet1!$A$2:$A$13</c:f>
              <c:strCache>
                <c:ptCount val="12"/>
                <c:pt idx="0">
                  <c:v>Jul</c:v>
                </c:pt>
                <c:pt idx="1">
                  <c:v>Aug</c:v>
                </c:pt>
                <c:pt idx="2">
                  <c:v>Sep</c:v>
                </c:pt>
                <c:pt idx="3">
                  <c:v>Oct</c:v>
                </c:pt>
                <c:pt idx="4">
                  <c:v>Nov</c:v>
                </c:pt>
                <c:pt idx="5">
                  <c:v>Dec</c:v>
                </c:pt>
                <c:pt idx="6">
                  <c:v>Jan</c:v>
                </c:pt>
                <c:pt idx="7">
                  <c:v>Feb</c:v>
                </c:pt>
                <c:pt idx="8">
                  <c:v>Mar</c:v>
                </c:pt>
                <c:pt idx="9">
                  <c:v>Apr</c:v>
                </c:pt>
                <c:pt idx="10">
                  <c:v>May</c:v>
                </c:pt>
                <c:pt idx="11">
                  <c:v>Jun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0.89</c:v>
                </c:pt>
                <c:pt idx="1">
                  <c:v>2.31</c:v>
                </c:pt>
                <c:pt idx="2">
                  <c:v>0.64</c:v>
                </c:pt>
                <c:pt idx="3">
                  <c:v>1.71</c:v>
                </c:pt>
                <c:pt idx="4">
                  <c:v>5.96</c:v>
                </c:pt>
                <c:pt idx="5">
                  <c:v>0.47</c:v>
                </c:pt>
                <c:pt idx="6">
                  <c:v>0.84</c:v>
                </c:pt>
                <c:pt idx="7">
                  <c:v>0.22</c:v>
                </c:pt>
                <c:pt idx="8">
                  <c:v>1.49</c:v>
                </c:pt>
                <c:pt idx="9">
                  <c:v>0.84</c:v>
                </c:pt>
                <c:pt idx="10">
                  <c:v>1.05</c:v>
                </c:pt>
                <c:pt idx="11">
                  <c:v>1.46</c:v>
                </c:pt>
              </c:numCache>
            </c:numRef>
          </c:val>
        </c:ser>
        <c:dLbls>
          <c:numFmt formatCode="$#,##0.0&quot;M&quot;" sourceLinked="0"/>
          <c:txPr>
            <a:bodyPr/>
            <a:lstStyle/>
            <a:p>
              <a:pPr>
                <a:defRPr sz="850" b="1">
                  <a:solidFill>
                    <a:srgbClr val="1E2B4D"/>
                  </a:solidFill>
                  <a:latin typeface="Segoe U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9E1EC"/>
            </a:solidFill>
          </a:ln>
        </c:spPr>
        <c:txPr>
          <a:bodyPr/>
          <a:lstStyle/>
          <a:p>
            <a:pPr>
              <a:defRPr sz="950">
                <a:solidFill>
                  <a:srgbClr val="5E6A7A"/>
                </a:solidFill>
                <a:latin typeface="Segoe U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95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100" b="1">
                <a:solidFill>
                  <a:srgbClr val="1E2B4D"/>
                </a:solidFill>
              </a:rPr>
              <a:t>FY27 EBIT by scenario (CAD)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EBIT</c:v>
                </c:pt>
              </c:strCache>
            </c:strRef>
          </c:tx>
          <c:spPr>
            <a:solidFill>
              <a:srgbClr val="3B7DD8"/>
            </a:solidFill>
          </c:spPr>
          <c:cat>
            <c:strRef>
              <c:f>Sheet1!$A$2:$A$5</c:f>
              <c:strCache>
                <c:ptCount val="4"/>
                <c:pt idx="0">
                  <c:v>Downside</c:v>
                </c:pt>
                <c:pt idx="1">
                  <c:v>Target</c:v>
                </c:pt>
                <c:pt idx="2">
                  <c:v>Upside</c:v>
                </c:pt>
                <c:pt idx="3">
                  <c:v>Blue Sky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0.44</c:v>
                </c:pt>
                <c:pt idx="1">
                  <c:v>4.27</c:v>
                </c:pt>
                <c:pt idx="2">
                  <c:v>4.52</c:v>
                </c:pt>
                <c:pt idx="3">
                  <c:v>8.22</c:v>
                </c:pt>
              </c:numCache>
            </c:numRef>
          </c:val>
        </c:ser>
        <c:dLbls>
          <c:numFmt formatCode="$#,##0.00&quot;M&quot;" sourceLinked="0"/>
          <c:txPr>
            <a:bodyPr/>
            <a:lstStyle/>
            <a:p>
              <a:pPr>
                <a:defRPr sz="1000" b="1">
                  <a:solidFill>
                    <a:srgbClr val="1E2B4D"/>
                  </a:solidFill>
                  <a:latin typeface="Segoe U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9E1EC"/>
            </a:solidFill>
          </a:ln>
        </c:spPr>
        <c:txPr>
          <a:bodyPr/>
          <a:lstStyle/>
          <a:p>
            <a:pPr>
              <a:defRPr sz="950">
                <a:solidFill>
                  <a:srgbClr val="5E6A7A"/>
                </a:solidFill>
                <a:latin typeface="Segoe U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95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OPEX</c:v>
                </c:pt>
              </c:strCache>
            </c:strRef>
          </c:tx>
          <c:spPr>
            <a:solidFill>
              <a:srgbClr val="3B7DD8"/>
            </a:solidFill>
          </c:spPr>
          <c:cat>
            <c:strRef>
              <c:f>Sheet1!$A$2:$A$10</c:f>
              <c:strCache>
                <c:ptCount val="9"/>
                <c:pt idx="0">
                  <c:v>Memberships &amp; Compliance</c:v>
                </c:pt>
                <c:pt idx="1">
                  <c:v>R&amp;D</c:v>
                </c:pt>
                <c:pt idx="2">
                  <c:v>Sales &amp; Marketing</c:v>
                </c:pt>
                <c:pt idx="3">
                  <c:v>Travel &amp; Entertainment</c:v>
                </c:pt>
                <c:pt idx="4">
                  <c:v>Professional Services</c:v>
                </c:pt>
                <c:pt idx="5">
                  <c:v>G&amp;A, Insurance &amp; Amortization</c:v>
                </c:pt>
                <c:pt idx="6">
                  <c:v>IT</c:v>
                </c:pt>
                <c:pt idx="7">
                  <c:v>Facilities &amp; Occupancy</c:v>
                </c:pt>
                <c:pt idx="8">
                  <c:v>People &amp; Benefits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27501</c:v>
                </c:pt>
                <c:pt idx="1">
                  <c:v>60000</c:v>
                </c:pt>
                <c:pt idx="2">
                  <c:v>117354</c:v>
                </c:pt>
                <c:pt idx="3">
                  <c:v>149095</c:v>
                </c:pt>
                <c:pt idx="4">
                  <c:v>247680</c:v>
                </c:pt>
                <c:pt idx="5">
                  <c:v>249310</c:v>
                </c:pt>
                <c:pt idx="6">
                  <c:v>263444</c:v>
                </c:pt>
                <c:pt idx="7">
                  <c:v>368033</c:v>
                </c:pt>
                <c:pt idx="8">
                  <c:v>2230681</c:v>
                </c:pt>
              </c:numCache>
            </c:numRef>
          </c:val>
        </c:ser>
        <c:dLbls>
          <c:numFmt formatCode="$#,##0,&quot;K&quot;" sourceLinked="0"/>
          <c:txPr>
            <a:bodyPr/>
            <a:lstStyle/>
            <a:p>
              <a:pPr>
                <a:defRPr sz="900" b="1">
                  <a:solidFill>
                    <a:srgbClr val="1E2B4D"/>
                  </a:solidFill>
                  <a:latin typeface="Segoe U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D9E1EC"/>
            </a:solidFill>
          </a:ln>
        </c:spPr>
        <c:txPr>
          <a:bodyPr/>
          <a:lstStyle/>
          <a:p>
            <a:pPr>
              <a:defRPr sz="950">
                <a:solidFill>
                  <a:srgbClr val="5E6A7A"/>
                </a:solidFill>
                <a:latin typeface="Segoe U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95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224528"/>
            <a:ext cx="12191695" cy="41148"/>
          </a:xfrm>
          <a:prstGeom prst="rect">
            <a:avLst/>
          </a:prstGeom>
          <a:solidFill>
            <a:srgbClr val="3B7D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3B7DD8"/>
                </a:solidFill>
                <a:latin typeface="Segoe UI"/>
              </a:rPr>
              <a:t>WESTMILL INDUSTRIES LTD.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920240"/>
            <a:ext cx="1060704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4800" b="1">
                <a:solidFill>
                  <a:srgbClr val="FFFFFF"/>
                </a:solidFill>
                <a:latin typeface="Segoe UI"/>
              </a:rPr>
              <a:t>Board Report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2000" b="0">
                <a:solidFill>
                  <a:srgbClr val="C9D5EA"/>
                </a:solidFill>
                <a:latin typeface="Segoe UI"/>
              </a:rPr>
              <a:t>FY2026 Final Results  ·  FY27 Target Budget  ·  FY27 Vision / Traction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43484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8A97B5"/>
                </a:solidFill>
                <a:latin typeface="Segoe UI"/>
              </a:rPr>
              <a:t>July 2026  ·  Fiscal year July–June  ·  All figures CAD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0350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9FC0EE"/>
                </a:solidFill>
                <a:latin typeface="Segoe UI"/>
              </a:rPr>
              <a:t>The WESTMILL Way  —  "We've got your back."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2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18872"/>
            <a:ext cx="8778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9FC0EE"/>
                </a:solidFill>
                <a:latin typeface="Segoe UI"/>
              </a:rPr>
              <a:t>BOARD MEETING · JULY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47472"/>
            <a:ext cx="89611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300" b="1">
                <a:solidFill>
                  <a:srgbClr val="FFFFFF"/>
                </a:solidFill>
                <a:latin typeface="Segoe UI"/>
              </a:rP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9672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5E6A7A"/>
                </a:solidFill>
                <a:latin typeface="Segoe UI"/>
              </a:rPr>
              <a:t>The WESTMILL Way  —  "We've got your back."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0" y="6519672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5E6A7A"/>
                </a:solidFill>
                <a:latin typeface="Segoe UI"/>
              </a:rPr>
              <a:t>Westmill Industries Ltd. · Board Review · July 2026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371600"/>
            <a:ext cx="11183112" cy="141732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9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627632"/>
            <a:ext cx="914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000" b="1">
                <a:solidFill>
                  <a:srgbClr val="3B7DD8"/>
                </a:solidFill>
                <a:latin typeface="Segoe U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1572768"/>
            <a:ext cx="95097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700" b="1">
                <a:solidFill>
                  <a:srgbClr val="1E2B4D"/>
                </a:solidFill>
                <a:latin typeface="Segoe UI"/>
              </a:rPr>
              <a:t>FY2026 Board Report — Final Results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5E6A7A"/>
                </a:solidFill>
                <a:latin typeface="Segoe UI"/>
              </a:rPr>
              <a:t>Full-year actuals vs. budget · revenue drill-down by project · quarterly performance · net working capital &amp; cash position.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999232"/>
            <a:ext cx="11183112" cy="141732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9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3255264"/>
            <a:ext cx="914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000" b="1">
                <a:solidFill>
                  <a:srgbClr val="3B7DD8"/>
                </a:solidFill>
                <a:latin typeface="Segoe UI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3200400"/>
            <a:ext cx="95097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700" b="1">
                <a:solidFill>
                  <a:srgbClr val="1E2B4D"/>
                </a:solidFill>
                <a:latin typeface="Segoe UI"/>
              </a:rPr>
              <a:t>FY27 Operating Budget — Target Scenario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5E6A7A"/>
                </a:solidFill>
                <a:latin typeface="Segoe UI"/>
              </a:rPr>
              <a:t>Key metrics for the Target (Baseline) budget · scenario range Downside → Blue Sky · OPEX management view · FY26 vs FY27 OPEX comparison · proposed strategic investment.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4626864"/>
            <a:ext cx="11183112" cy="141732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9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4882896"/>
            <a:ext cx="914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000" b="1">
                <a:solidFill>
                  <a:srgbClr val="3B7DD8"/>
                </a:solidFill>
                <a:latin typeface="Segoe UI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4828032"/>
            <a:ext cx="95097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700" b="1">
                <a:solidFill>
                  <a:srgbClr val="1E2B4D"/>
                </a:solidFill>
                <a:latin typeface="Segoe UI"/>
              </a:rPr>
              <a:t>FY27 Vision / Traction Organizer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5E6A7A"/>
                </a:solidFill>
                <a:latin typeface="Segoe UI"/>
              </a:rPr>
              <a:t>Core values &amp; focus · 5-year target and 3-year picture · FY27 1-year plan · the 7 annual goals · quarterly rocks by goal and owner.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2313432"/>
            <a:ext cx="82296" cy="1737360"/>
          </a:xfrm>
          <a:prstGeom prst="rect">
            <a:avLst/>
          </a:prstGeom>
          <a:solidFill>
            <a:srgbClr val="3B7D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224028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000" b="1">
                <a:solidFill>
                  <a:srgbClr val="3B7DD8"/>
                </a:solidFill>
                <a:latin typeface="Segoe UI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74320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4000" b="1">
                <a:solidFill>
                  <a:srgbClr val="FFFFFF"/>
                </a:solidFill>
                <a:latin typeface="Segoe UI"/>
              </a:rPr>
              <a:t>FY2026 Board Report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3703320"/>
            <a:ext cx="98755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0">
                <a:solidFill>
                  <a:srgbClr val="B9C6DE"/>
                </a:solidFill>
                <a:latin typeface="Segoe UI"/>
              </a:rPr>
              <a:t>Final full-year actual results — 12 months actual (Jul 2025 – Jun 2026), including the revised year-end tax accrual of $1.10M. Source: Consolidation FS June 2026, PL Consol v Budget.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35508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8A97B5"/>
                </a:solidFill>
                <a:latin typeface="Segoe UI"/>
              </a:rPr>
              <a:t>The WESTMILL Way  —  "We've got your back."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2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18872"/>
            <a:ext cx="8778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9FC0EE"/>
                </a:solidFill>
                <a:latin typeface="Segoe UI"/>
              </a:rPr>
              <a:t>FY2026 · FINAL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47472"/>
            <a:ext cx="89611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300" b="1">
                <a:solidFill>
                  <a:srgbClr val="FFFFFF"/>
                </a:solidFill>
                <a:latin typeface="Segoe UI"/>
              </a:rPr>
              <a:t>FY26 Highlights — Beat on Every 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95360" y="118872"/>
            <a:ext cx="310896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9FC0EE"/>
                </a:solidFill>
                <a:latin typeface="Segoe UI"/>
              </a:rPr>
              <a:t>Full year actual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9672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5E6A7A"/>
                </a:solidFill>
                <a:latin typeface="Segoe UI"/>
              </a:rPr>
              <a:t>The WESTMILL Way  —  "We've got your back."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0" y="6519672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5E6A7A"/>
                </a:solidFill>
                <a:latin typeface="Segoe UI"/>
              </a:rPr>
              <a:t>Westmill Industries Ltd. · Board Review · July 2026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325880"/>
            <a:ext cx="2724912" cy="1261872"/>
          </a:xfrm>
          <a:prstGeom prst="roundRect">
            <a:avLst>
              <a:gd name="adj" fmla="val 8000"/>
            </a:avLst>
          </a:prstGeom>
          <a:solidFill>
            <a:srgbClr val="E8EFF8"/>
          </a:solidFill>
          <a:ln w="9525">
            <a:solidFill>
              <a:srgbClr val="3B7D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" y="1426464"/>
            <a:ext cx="24688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5E6A7A"/>
                </a:solidFill>
                <a:latin typeface="Segoe UI"/>
              </a:rPr>
              <a:t>TOTAL SALES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" y="1655064"/>
            <a:ext cx="2468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100" b="1">
                <a:solidFill>
                  <a:srgbClr val="1E2B4D"/>
                </a:solidFill>
                <a:latin typeface="Segoe UI"/>
              </a:rPr>
              <a:t>$17.89M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" y="2103120"/>
            <a:ext cx="24688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2D8659"/>
                </a:solidFill>
                <a:latin typeface="Segoe UI"/>
              </a:rPr>
              <a:t>119.3% of budget · +$2.89M vs $15.00M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19272" y="1325880"/>
            <a:ext cx="2724912" cy="1261872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9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47288" y="1426464"/>
            <a:ext cx="24688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5E6A7A"/>
                </a:solidFill>
                <a:latin typeface="Segoe UI"/>
              </a:rPr>
              <a:t>GROSS PROFIT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47288" y="1655064"/>
            <a:ext cx="2468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100" b="1">
                <a:solidFill>
                  <a:srgbClr val="1E2B4D"/>
                </a:solidFill>
                <a:latin typeface="Segoe UI"/>
              </a:rPr>
              <a:t>$8.14M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47288" y="2103120"/>
            <a:ext cx="24688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2D8659"/>
                </a:solidFill>
                <a:latin typeface="Segoe UI"/>
              </a:rPr>
              <a:t>45.5% margin · +$2.05M vs $6.09M budget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35624" y="1325880"/>
            <a:ext cx="2724912" cy="1261872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9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63640" y="1426464"/>
            <a:ext cx="24688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5E6A7A"/>
                </a:solidFill>
                <a:latin typeface="Segoe UI"/>
              </a:rPr>
              <a:t>OPERATING EXPENSES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1655064"/>
            <a:ext cx="2468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100" b="1">
                <a:solidFill>
                  <a:srgbClr val="1E2B4D"/>
                </a:solidFill>
                <a:latin typeface="Segoe UI"/>
              </a:rPr>
              <a:t>$3.78M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63640" y="2103120"/>
            <a:ext cx="24688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2D8659"/>
                </a:solidFill>
                <a:latin typeface="Segoe UI"/>
              </a:rPr>
              <a:t>96.2% of budget · $148K under $3.93M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51976" y="1325880"/>
            <a:ext cx="2724912" cy="1261872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9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79992" y="1426464"/>
            <a:ext cx="24688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5E6A7A"/>
                </a:solidFill>
                <a:latin typeface="Segoe UI"/>
              </a:rPr>
              <a:t>OPERATING PROFIT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79992" y="1655064"/>
            <a:ext cx="2468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100" b="1">
                <a:solidFill>
                  <a:srgbClr val="1E2B4D"/>
                </a:solidFill>
                <a:latin typeface="Segoe UI"/>
              </a:rPr>
              <a:t>$4.36M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79992" y="2103120"/>
            <a:ext cx="24688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2D8659"/>
                </a:solidFill>
                <a:latin typeface="Segoe UI"/>
              </a:rPr>
              <a:t>24.4% margin · +$2.20M vs $2.16M budget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" y="2743200"/>
            <a:ext cx="2724912" cy="1261872"/>
          </a:xfrm>
          <a:prstGeom prst="roundRect">
            <a:avLst>
              <a:gd name="adj" fmla="val 8000"/>
            </a:avLst>
          </a:prstGeom>
          <a:solidFill>
            <a:srgbClr val="E8EFF8"/>
          </a:solidFill>
          <a:ln w="9525">
            <a:solidFill>
              <a:srgbClr val="3B7D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0936" y="2843784"/>
            <a:ext cx="24688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5E6A7A"/>
                </a:solidFill>
                <a:latin typeface="Segoe UI"/>
              </a:rPr>
              <a:t>NET INCOME (PRE-TAX)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0936" y="3072384"/>
            <a:ext cx="2468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100" b="1">
                <a:solidFill>
                  <a:srgbClr val="1E2B4D"/>
                </a:solidFill>
                <a:latin typeface="Segoe UI"/>
              </a:rPr>
              <a:t>$4.46M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0936" y="3520440"/>
            <a:ext cx="24688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2D8659"/>
                </a:solidFill>
                <a:latin typeface="Segoe UI"/>
              </a:rPr>
              <a:t>24.9% margin · +$2.30M vs budget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319272" y="2743200"/>
            <a:ext cx="2724912" cy="1261872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9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447288" y="2843784"/>
            <a:ext cx="24688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5E6A7A"/>
                </a:solidFill>
                <a:latin typeface="Segoe UI"/>
              </a:rPr>
              <a:t>INCOME TAX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47288" y="3072384"/>
            <a:ext cx="2468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100" b="1">
                <a:solidFill>
                  <a:srgbClr val="1E2B4D"/>
                </a:solidFill>
                <a:latin typeface="Segoe UI"/>
              </a:rPr>
              <a:t>($1.10M)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47288" y="3520440"/>
            <a:ext cx="24688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5E6A7A"/>
                </a:solidFill>
                <a:latin typeface="Segoe UI"/>
              </a:rPr>
              <a:t>Year-end accrual (revised) · none budgeted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35624" y="2743200"/>
            <a:ext cx="2724912" cy="1261872"/>
          </a:xfrm>
          <a:prstGeom prst="roundRect">
            <a:avLst>
              <a:gd name="adj" fmla="val 8000"/>
            </a:avLst>
          </a:prstGeom>
          <a:solidFill>
            <a:srgbClr val="E8EFF8"/>
          </a:solidFill>
          <a:ln w="9525">
            <a:solidFill>
              <a:srgbClr val="3B7D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63640" y="2843784"/>
            <a:ext cx="24688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5E6A7A"/>
                </a:solidFill>
                <a:latin typeface="Segoe UI"/>
              </a:rPr>
              <a:t>NET INCOME (AFTER TAX)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63640" y="3072384"/>
            <a:ext cx="2468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100" b="1">
                <a:solidFill>
                  <a:srgbClr val="1E2B4D"/>
                </a:solidFill>
                <a:latin typeface="Segoe UI"/>
              </a:rPr>
              <a:t>$3.36M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63640" y="3520440"/>
            <a:ext cx="24688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2D8659"/>
                </a:solidFill>
                <a:latin typeface="Segoe UI"/>
              </a:rPr>
              <a:t>18.8% margin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951976" y="2743200"/>
            <a:ext cx="2724912" cy="1261872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9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079992" y="2843784"/>
            <a:ext cx="24688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5E6A7A"/>
                </a:solidFill>
                <a:latin typeface="Segoe UI"/>
              </a:rPr>
              <a:t>CASH AT JUN 30, 2026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79992" y="3072384"/>
            <a:ext cx="2468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100" b="1">
                <a:solidFill>
                  <a:srgbClr val="1E2B4D"/>
                </a:solidFill>
                <a:latin typeface="Segoe UI"/>
              </a:rPr>
              <a:t>$4.98M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079992" y="3520440"/>
            <a:ext cx="24688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5E6A7A"/>
                </a:solidFill>
                <a:latin typeface="Segoe UI"/>
              </a:rPr>
              <a:t>No interest-bearing debt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02920" y="4343400"/>
            <a:ext cx="11183112" cy="1920240"/>
          </a:xfrm>
          <a:prstGeom prst="roundRect">
            <a:avLst>
              <a:gd name="adj" fmla="val 80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77240" y="4526280"/>
            <a:ext cx="1069848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1E2B4D"/>
                </a:solidFill>
                <a:latin typeface="Segoe UI"/>
              </a:rPr>
              <a:t>The year in one paragraph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222833"/>
                </a:solidFill>
                <a:latin typeface="Segoe UI"/>
              </a:rPr>
              <a:t>FY26 closed at $17.89M in sales — 119% of the $15.0M budget — with gross margin holding at 45.5% and operating expenses finishing $148K under budget. Pre-tax net income of $4.46M more than doubled the $2.16M budget. After the revised $1.10M year-end tax accrual (no tax was budgeted), after-tax net income is $3.36M (18.8% margin). Year-end OpEx includes $396K of end-of-year adjustments (commissions, accruals, amortization, health tax, vacation, staff bonus).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2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18872"/>
            <a:ext cx="8778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9FC0EE"/>
                </a:solidFill>
                <a:latin typeface="Segoe UI"/>
              </a:rPr>
              <a:t>FY2026 · FINAL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47472"/>
            <a:ext cx="89611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300" b="1">
                <a:solidFill>
                  <a:srgbClr val="FFFFFF"/>
                </a:solidFill>
                <a:latin typeface="Segoe UI"/>
              </a:rPr>
              <a:t>FY26 P&amp;L — Actual vs. Budget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95360" y="118872"/>
            <a:ext cx="310896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9FC0EE"/>
                </a:solidFill>
                <a:latin typeface="Segoe UI"/>
              </a:rPr>
              <a:t>CAD · full year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9672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5E6A7A"/>
                </a:solidFill>
                <a:latin typeface="Segoe UI"/>
              </a:rPr>
              <a:t>The WESTMILL Way  —  "We've got your back."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0" y="6519672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5E6A7A"/>
                </a:solidFill>
                <a:latin typeface="Segoe UI"/>
              </a:rPr>
              <a:t>Westmill Industries Ltd. · Board Review · July 2026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371600"/>
          <a:ext cx="11183109" cy="382219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298245"/>
                <a:gridCol w="1752192"/>
                <a:gridCol w="1752192"/>
                <a:gridCol w="1752192"/>
                <a:gridCol w="1391447"/>
                <a:gridCol w="1236841"/>
              </a:tblGrid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Line item</a:t>
                      </a:r>
                    </a:p>
                  </a:txBody>
                  <a:tcPr marL="64008" marR="64008" marT="13716" marB="13716" anchor="ctr">
                    <a:solidFill>
                      <a:srgbClr val="1E2B4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FY Actual</a:t>
                      </a:r>
                    </a:p>
                  </a:txBody>
                  <a:tcPr marL="64008" marR="64008" marT="13716" marB="13716" anchor="ctr">
                    <a:solidFill>
                      <a:srgbClr val="1E2B4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FY Budget</a:t>
                      </a:r>
                    </a:p>
                  </a:txBody>
                  <a:tcPr marL="64008" marR="64008" marT="13716" marB="13716" anchor="ctr">
                    <a:solidFill>
                      <a:srgbClr val="1E2B4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Variance</a:t>
                      </a:r>
                    </a:p>
                  </a:txBody>
                  <a:tcPr marL="64008" marR="64008" marT="13716" marB="13716" anchor="ctr">
                    <a:solidFill>
                      <a:srgbClr val="1E2B4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% of Budget</a:t>
                      </a:r>
                    </a:p>
                  </a:txBody>
                  <a:tcPr marL="64008" marR="64008" marT="13716" marB="13716" anchor="ctr">
                    <a:solidFill>
                      <a:srgbClr val="1E2B4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FY Margin</a:t>
                      </a:r>
                    </a:p>
                  </a:txBody>
                  <a:tcPr marL="64008" marR="64008" marT="13716" marB="13716" anchor="ctr">
                    <a:solidFill>
                      <a:srgbClr val="1E2B4D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222833"/>
                          </a:solidFill>
                          <a:latin typeface="Segoe UI"/>
                        </a:rPr>
                        <a:t>Total Sales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>
                          <a:solidFill>
                            <a:srgbClr val="222833"/>
                          </a:solidFill>
                          <a:latin typeface="Segoe UI"/>
                        </a:rPr>
                        <a:t>$17,890,961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>
                          <a:solidFill>
                            <a:srgbClr val="222833"/>
                          </a:solidFill>
                          <a:latin typeface="Segoe UI"/>
                        </a:rPr>
                        <a:t>$15,000,008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>
                          <a:solidFill>
                            <a:srgbClr val="2D8659"/>
                          </a:solidFill>
                          <a:latin typeface="Segoe UI"/>
                        </a:rPr>
                        <a:t>+$2,890,953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>
                          <a:solidFill>
                            <a:srgbClr val="222833"/>
                          </a:solidFill>
                          <a:latin typeface="Segoe UI"/>
                        </a:rPr>
                        <a:t>119.3%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>
                          <a:solidFill>
                            <a:srgbClr val="222833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222833"/>
                          </a:solidFill>
                          <a:latin typeface="Segoe UI"/>
                        </a:rPr>
                        <a:t>Total COGS</a:t>
                      </a:r>
                    </a:p>
                  </a:txBody>
                  <a:tcPr marL="64008" marR="64008" marT="13716" marB="13716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>
                          <a:solidFill>
                            <a:srgbClr val="222833"/>
                          </a:solidFill>
                          <a:latin typeface="Segoe UI"/>
                        </a:rPr>
                        <a:t>$9,752,802</a:t>
                      </a:r>
                    </a:p>
                  </a:txBody>
                  <a:tcPr marL="64008" marR="64008" marT="13716" marB="13716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>
                          <a:solidFill>
                            <a:srgbClr val="222833"/>
                          </a:solidFill>
                          <a:latin typeface="Segoe UI"/>
                        </a:rPr>
                        <a:t>$8,914,001</a:t>
                      </a:r>
                    </a:p>
                  </a:txBody>
                  <a:tcPr marL="64008" marR="64008" marT="13716" marB="13716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>
                          <a:solidFill>
                            <a:srgbClr val="C05028"/>
                          </a:solidFill>
                          <a:latin typeface="Segoe UI"/>
                        </a:rPr>
                        <a:t>+$838,801</a:t>
                      </a:r>
                    </a:p>
                  </a:txBody>
                  <a:tcPr marL="64008" marR="64008" marT="13716" marB="13716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>
                          <a:solidFill>
                            <a:srgbClr val="222833"/>
                          </a:solidFill>
                          <a:latin typeface="Segoe UI"/>
                        </a:rPr>
                        <a:t>109.4%</a:t>
                      </a:r>
                    </a:p>
                  </a:txBody>
                  <a:tcPr marL="64008" marR="64008" marT="13716" marB="13716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>
                          <a:solidFill>
                            <a:srgbClr val="222833"/>
                          </a:solidFill>
                          <a:latin typeface="Segoe UI"/>
                        </a:rPr>
                        <a:t>54.5%</a:t>
                      </a:r>
                    </a:p>
                  </a:txBody>
                  <a:tcPr marL="64008" marR="64008" marT="13716" marB="13716" anchor="ctr">
                    <a:solidFill>
                      <a:srgbClr val="F5F7FA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222833"/>
                          </a:solidFill>
                          <a:latin typeface="Segoe UI"/>
                        </a:rPr>
                        <a:t>Gross Profit</a:t>
                      </a:r>
                    </a:p>
                  </a:txBody>
                  <a:tcPr marL="64008" marR="64008" marT="13716" marB="13716" anchor="ctr">
                    <a:solidFill>
                      <a:srgbClr val="E8EF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1">
                          <a:solidFill>
                            <a:srgbClr val="222833"/>
                          </a:solidFill>
                          <a:latin typeface="Segoe UI"/>
                        </a:rPr>
                        <a:t>$8,138,159</a:t>
                      </a:r>
                    </a:p>
                  </a:txBody>
                  <a:tcPr marL="64008" marR="64008" marT="13716" marB="13716" anchor="ctr">
                    <a:solidFill>
                      <a:srgbClr val="E8EF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1">
                          <a:solidFill>
                            <a:srgbClr val="222833"/>
                          </a:solidFill>
                          <a:latin typeface="Segoe UI"/>
                        </a:rPr>
                        <a:t>$6,086,008</a:t>
                      </a:r>
                    </a:p>
                  </a:txBody>
                  <a:tcPr marL="64008" marR="64008" marT="13716" marB="13716" anchor="ctr">
                    <a:solidFill>
                      <a:srgbClr val="E8EF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1">
                          <a:solidFill>
                            <a:srgbClr val="2D8659"/>
                          </a:solidFill>
                          <a:latin typeface="Segoe UI"/>
                        </a:rPr>
                        <a:t>+$2,052,151</a:t>
                      </a:r>
                    </a:p>
                  </a:txBody>
                  <a:tcPr marL="64008" marR="64008" marT="13716" marB="13716" anchor="ctr">
                    <a:solidFill>
                      <a:srgbClr val="E8EF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1">
                          <a:solidFill>
                            <a:srgbClr val="222833"/>
                          </a:solidFill>
                          <a:latin typeface="Segoe UI"/>
                        </a:rPr>
                        <a:t>133.7%</a:t>
                      </a:r>
                    </a:p>
                  </a:txBody>
                  <a:tcPr marL="64008" marR="64008" marT="13716" marB="13716" anchor="ctr">
                    <a:solidFill>
                      <a:srgbClr val="E8EF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1">
                          <a:solidFill>
                            <a:srgbClr val="222833"/>
                          </a:solidFill>
                          <a:latin typeface="Segoe UI"/>
                        </a:rPr>
                        <a:t>45.5%</a:t>
                      </a:r>
                    </a:p>
                  </a:txBody>
                  <a:tcPr marL="64008" marR="64008" marT="13716" marB="13716" anchor="ctr">
                    <a:solidFill>
                      <a:srgbClr val="E8EFF8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222833"/>
                          </a:solidFill>
                          <a:latin typeface="Segoe UI"/>
                        </a:rPr>
                        <a:t>Operating Expenses</a:t>
                      </a:r>
                    </a:p>
                  </a:txBody>
                  <a:tcPr marL="64008" marR="64008" marT="13716" marB="13716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>
                          <a:solidFill>
                            <a:srgbClr val="222833"/>
                          </a:solidFill>
                          <a:latin typeface="Segoe UI"/>
                        </a:rPr>
                        <a:t>$3,778,119</a:t>
                      </a:r>
                    </a:p>
                  </a:txBody>
                  <a:tcPr marL="64008" marR="64008" marT="13716" marB="13716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>
                          <a:solidFill>
                            <a:srgbClr val="222833"/>
                          </a:solidFill>
                          <a:latin typeface="Segoe UI"/>
                        </a:rPr>
                        <a:t>$3,925,812</a:t>
                      </a:r>
                    </a:p>
                  </a:txBody>
                  <a:tcPr marL="64008" marR="64008" marT="13716" marB="13716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>
                          <a:solidFill>
                            <a:srgbClr val="2D8659"/>
                          </a:solidFill>
                          <a:latin typeface="Segoe UI"/>
                        </a:rPr>
                        <a:t>−$147,693</a:t>
                      </a:r>
                    </a:p>
                  </a:txBody>
                  <a:tcPr marL="64008" marR="64008" marT="13716" marB="13716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>
                          <a:solidFill>
                            <a:srgbClr val="222833"/>
                          </a:solidFill>
                          <a:latin typeface="Segoe UI"/>
                        </a:rPr>
                        <a:t>96.2%</a:t>
                      </a:r>
                    </a:p>
                  </a:txBody>
                  <a:tcPr marL="64008" marR="64008" marT="13716" marB="13716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>
                          <a:solidFill>
                            <a:srgbClr val="222833"/>
                          </a:solidFill>
                          <a:latin typeface="Segoe UI"/>
                        </a:rPr>
                        <a:t>21.1%</a:t>
                      </a:r>
                    </a:p>
                  </a:txBody>
                  <a:tcPr marL="64008" marR="64008" marT="13716" marB="13716" anchor="ctr">
                    <a:solidFill>
                      <a:srgbClr val="F5F7FA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222833"/>
                          </a:solidFill>
                          <a:latin typeface="Segoe UI"/>
                        </a:rPr>
                        <a:t>Operating Profit</a:t>
                      </a:r>
                    </a:p>
                  </a:txBody>
                  <a:tcPr marL="64008" marR="64008" marT="13716" marB="13716" anchor="ctr">
                    <a:solidFill>
                      <a:srgbClr val="E8EF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1">
                          <a:solidFill>
                            <a:srgbClr val="222833"/>
                          </a:solidFill>
                          <a:latin typeface="Segoe UI"/>
                        </a:rPr>
                        <a:t>$4,360,040</a:t>
                      </a:r>
                    </a:p>
                  </a:txBody>
                  <a:tcPr marL="64008" marR="64008" marT="13716" marB="13716" anchor="ctr">
                    <a:solidFill>
                      <a:srgbClr val="E8EF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1">
                          <a:solidFill>
                            <a:srgbClr val="222833"/>
                          </a:solidFill>
                          <a:latin typeface="Segoe UI"/>
                        </a:rPr>
                        <a:t>$2,160,196</a:t>
                      </a:r>
                    </a:p>
                  </a:txBody>
                  <a:tcPr marL="64008" marR="64008" marT="13716" marB="13716" anchor="ctr">
                    <a:solidFill>
                      <a:srgbClr val="E8EF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1">
                          <a:solidFill>
                            <a:srgbClr val="2D8659"/>
                          </a:solidFill>
                          <a:latin typeface="Segoe UI"/>
                        </a:rPr>
                        <a:t>+$2,199,844</a:t>
                      </a:r>
                    </a:p>
                  </a:txBody>
                  <a:tcPr marL="64008" marR="64008" marT="13716" marB="13716" anchor="ctr">
                    <a:solidFill>
                      <a:srgbClr val="E8EF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1">
                          <a:solidFill>
                            <a:srgbClr val="222833"/>
                          </a:solidFill>
                          <a:latin typeface="Segoe UI"/>
                        </a:rPr>
                        <a:t>201.8%</a:t>
                      </a:r>
                    </a:p>
                  </a:txBody>
                  <a:tcPr marL="64008" marR="64008" marT="13716" marB="13716" anchor="ctr">
                    <a:solidFill>
                      <a:srgbClr val="E8EF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1">
                          <a:solidFill>
                            <a:srgbClr val="222833"/>
                          </a:solidFill>
                          <a:latin typeface="Segoe UI"/>
                        </a:rPr>
                        <a:t>24.4%</a:t>
                      </a:r>
                    </a:p>
                  </a:txBody>
                  <a:tcPr marL="64008" marR="64008" marT="13716" marB="13716" anchor="ctr">
                    <a:solidFill>
                      <a:srgbClr val="E8EFF8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222833"/>
                          </a:solidFill>
                          <a:latin typeface="Segoe UI"/>
                        </a:rPr>
                        <a:t>Net Non-Operating Income</a:t>
                      </a:r>
                    </a:p>
                  </a:txBody>
                  <a:tcPr marL="64008" marR="64008" marT="13716" marB="13716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>
                          <a:solidFill>
                            <a:srgbClr val="222833"/>
                          </a:solidFill>
                          <a:latin typeface="Segoe UI"/>
                        </a:rPr>
                        <a:t>$102,014</a:t>
                      </a:r>
                    </a:p>
                  </a:txBody>
                  <a:tcPr marL="64008" marR="64008" marT="13716" marB="13716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>
                          <a:solidFill>
                            <a:srgbClr val="222833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marL="64008" marR="64008" marT="13716" marB="13716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>
                          <a:solidFill>
                            <a:srgbClr val="222833"/>
                          </a:solidFill>
                          <a:latin typeface="Segoe UI"/>
                        </a:rPr>
                        <a:t>+$102,014</a:t>
                      </a:r>
                    </a:p>
                  </a:txBody>
                  <a:tcPr marL="64008" marR="64008" marT="13716" marB="13716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>
                          <a:solidFill>
                            <a:srgbClr val="222833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marL="64008" marR="64008" marT="13716" marB="13716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>
                          <a:solidFill>
                            <a:srgbClr val="222833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marL="64008" marR="64008" marT="13716" marB="13716" anchor="ctr">
                    <a:solidFill>
                      <a:srgbClr val="F5F7FA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222833"/>
                          </a:solidFill>
                          <a:latin typeface="Segoe UI"/>
                        </a:rPr>
                        <a:t>Net Income (pre-tax)</a:t>
                      </a:r>
                    </a:p>
                  </a:txBody>
                  <a:tcPr marL="64008" marR="64008" marT="13716" marB="13716" anchor="ctr">
                    <a:solidFill>
                      <a:srgbClr val="E8EF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1">
                          <a:solidFill>
                            <a:srgbClr val="222833"/>
                          </a:solidFill>
                          <a:latin typeface="Segoe UI"/>
                        </a:rPr>
                        <a:t>$4,462,054</a:t>
                      </a:r>
                    </a:p>
                  </a:txBody>
                  <a:tcPr marL="64008" marR="64008" marT="13716" marB="13716" anchor="ctr">
                    <a:solidFill>
                      <a:srgbClr val="E8EF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1">
                          <a:solidFill>
                            <a:srgbClr val="222833"/>
                          </a:solidFill>
                          <a:latin typeface="Segoe UI"/>
                        </a:rPr>
                        <a:t>$2,160,196</a:t>
                      </a:r>
                    </a:p>
                  </a:txBody>
                  <a:tcPr marL="64008" marR="64008" marT="13716" marB="13716" anchor="ctr">
                    <a:solidFill>
                      <a:srgbClr val="E8EF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1">
                          <a:solidFill>
                            <a:srgbClr val="2D8659"/>
                          </a:solidFill>
                          <a:latin typeface="Segoe UI"/>
                        </a:rPr>
                        <a:t>+$2,301,858</a:t>
                      </a:r>
                    </a:p>
                  </a:txBody>
                  <a:tcPr marL="64008" marR="64008" marT="13716" marB="13716" anchor="ctr">
                    <a:solidFill>
                      <a:srgbClr val="E8EF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1">
                          <a:solidFill>
                            <a:srgbClr val="222833"/>
                          </a:solidFill>
                          <a:latin typeface="Segoe UI"/>
                        </a:rPr>
                        <a:t>206.6%</a:t>
                      </a:r>
                    </a:p>
                  </a:txBody>
                  <a:tcPr marL="64008" marR="64008" marT="13716" marB="13716" anchor="ctr">
                    <a:solidFill>
                      <a:srgbClr val="E8EF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1">
                          <a:solidFill>
                            <a:srgbClr val="222833"/>
                          </a:solidFill>
                          <a:latin typeface="Segoe UI"/>
                        </a:rPr>
                        <a:t>24.9%</a:t>
                      </a:r>
                    </a:p>
                  </a:txBody>
                  <a:tcPr marL="64008" marR="64008" marT="13716" marB="13716" anchor="ctr">
                    <a:solidFill>
                      <a:srgbClr val="E8EFF8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222833"/>
                          </a:solidFill>
                          <a:latin typeface="Segoe UI"/>
                        </a:rPr>
                        <a:t>Income Tax (year-end accrual)</a:t>
                      </a:r>
                    </a:p>
                  </a:txBody>
                  <a:tcPr marL="64008" marR="64008" marT="13716" marB="13716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>
                          <a:solidFill>
                            <a:srgbClr val="222833"/>
                          </a:solidFill>
                          <a:latin typeface="Segoe UI"/>
                        </a:rPr>
                        <a:t>($1,100,000)</a:t>
                      </a:r>
                    </a:p>
                  </a:txBody>
                  <a:tcPr marL="64008" marR="64008" marT="13716" marB="13716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>
                          <a:solidFill>
                            <a:srgbClr val="222833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marL="64008" marR="64008" marT="13716" marB="13716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>
                          <a:solidFill>
                            <a:srgbClr val="222833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marL="64008" marR="64008" marT="13716" marB="13716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>
                          <a:solidFill>
                            <a:srgbClr val="222833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marL="64008" marR="64008" marT="13716" marB="13716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>
                          <a:solidFill>
                            <a:srgbClr val="222833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marL="64008" marR="64008" marT="13716" marB="13716" anchor="ctr">
                    <a:solidFill>
                      <a:srgbClr val="F5F7FA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222833"/>
                          </a:solidFill>
                          <a:latin typeface="Segoe UI"/>
                        </a:rPr>
                        <a:t>Net Income (after tax)</a:t>
                      </a:r>
                    </a:p>
                  </a:txBody>
                  <a:tcPr marL="64008" marR="64008" marT="13716" marB="13716" anchor="ctr">
                    <a:solidFill>
                      <a:srgbClr val="E8EF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1">
                          <a:solidFill>
                            <a:srgbClr val="222833"/>
                          </a:solidFill>
                          <a:latin typeface="Segoe UI"/>
                        </a:rPr>
                        <a:t>$3,362,053</a:t>
                      </a:r>
                    </a:p>
                  </a:txBody>
                  <a:tcPr marL="64008" marR="64008" marT="13716" marB="13716" anchor="ctr">
                    <a:solidFill>
                      <a:srgbClr val="E8EF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1">
                          <a:solidFill>
                            <a:srgbClr val="222833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marL="64008" marR="64008" marT="13716" marB="13716" anchor="ctr">
                    <a:solidFill>
                      <a:srgbClr val="E8EF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1">
                          <a:solidFill>
                            <a:srgbClr val="222833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marL="64008" marR="64008" marT="13716" marB="13716" anchor="ctr">
                    <a:solidFill>
                      <a:srgbClr val="E8EF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1">
                          <a:solidFill>
                            <a:srgbClr val="222833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marL="64008" marR="64008" marT="13716" marB="13716" anchor="ctr">
                    <a:solidFill>
                      <a:srgbClr val="E8EF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1">
                          <a:solidFill>
                            <a:srgbClr val="222833"/>
                          </a:solidFill>
                          <a:latin typeface="Segoe UI"/>
                        </a:rPr>
                        <a:t>18.8%</a:t>
                      </a:r>
                    </a:p>
                  </a:txBody>
                  <a:tcPr marL="64008" marR="64008" marT="13716" marB="13716" anchor="ctr">
                    <a:solidFill>
                      <a:srgbClr val="E8EFF8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02920" y="5257800"/>
            <a:ext cx="111556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222833"/>
                </a:solidFill>
                <a:latin typeface="Segoe UI"/>
              </a:rPr>
              <a:t>•  Sales beat driven by both streams: Parts 133% of budget, Projects 114% of budget (drill-down next slide).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222833"/>
                </a:solidFill>
                <a:latin typeface="Segoe UI"/>
              </a:rPr>
              <a:t>•  June (final month): sales $1.46M; OpEx $1.03M elevated by $396K of year-end adjustments and the period absorbed the $1.10M tax accrual.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5E6A7A"/>
                </a:solidFill>
                <a:latin typeface="Segoe UI"/>
              </a:rPr>
              <a:t>•  Source: "Consolidation FS June 2026 (Interim)" — despite the filename, finalized full-year actuals updated Jul 6, 2026.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2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18872"/>
            <a:ext cx="8778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9FC0EE"/>
                </a:solidFill>
                <a:latin typeface="Segoe UI"/>
              </a:rPr>
              <a:t>FY2026 · REVENUE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47472"/>
            <a:ext cx="89611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300" b="1">
                <a:solidFill>
                  <a:srgbClr val="FFFFFF"/>
                </a:solidFill>
                <a:latin typeface="Segoe UI"/>
              </a:rPr>
              <a:t>Revenue Drill-Down — Parts vs. Projects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95360" y="118872"/>
            <a:ext cx="310896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9FC0EE"/>
                </a:solidFill>
                <a:latin typeface="Segoe UI"/>
              </a:rPr>
              <a:t>$17.89M total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9672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5E6A7A"/>
                </a:solidFill>
                <a:latin typeface="Segoe UI"/>
              </a:rPr>
              <a:t>The WESTMILL Way  —  "We've got your back."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0" y="6519672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5E6A7A"/>
                </a:solidFill>
                <a:latin typeface="Segoe UI"/>
              </a:rPr>
              <a:t>Westmill Industries Ltd. · Board Review · July 2026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280160"/>
            <a:ext cx="5440680" cy="1188720"/>
          </a:xfrm>
          <a:prstGeom prst="roundRect">
            <a:avLst>
              <a:gd name="adj" fmla="val 8000"/>
            </a:avLst>
          </a:prstGeom>
          <a:solidFill>
            <a:srgbClr val="E8EFF8"/>
          </a:solidFill>
          <a:ln w="9525">
            <a:solidFill>
              <a:srgbClr val="3B7D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" y="1380744"/>
            <a:ext cx="518464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5E6A7A"/>
                </a:solidFill>
                <a:latin typeface="Segoe UI"/>
              </a:rPr>
              <a:t>PARTS REVENUE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" y="1609344"/>
            <a:ext cx="518464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100" b="1">
                <a:solidFill>
                  <a:srgbClr val="1E2B4D"/>
                </a:solidFill>
                <a:latin typeface="Segoe UI"/>
              </a:rPr>
              <a:t>$5.33M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" y="1984248"/>
            <a:ext cx="5184648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2D8659"/>
                </a:solidFill>
                <a:latin typeface="Segoe UI"/>
              </a:rPr>
              <a:t>133.4% of $4.00M budget · 29.8% of total revenue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5352" y="1280160"/>
            <a:ext cx="5440680" cy="1188720"/>
          </a:xfrm>
          <a:prstGeom prst="roundRect">
            <a:avLst>
              <a:gd name="adj" fmla="val 8000"/>
            </a:avLst>
          </a:prstGeom>
          <a:solidFill>
            <a:srgbClr val="E8EFF8"/>
          </a:solidFill>
          <a:ln w="9525">
            <a:solidFill>
              <a:srgbClr val="3B7D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73368" y="1380744"/>
            <a:ext cx="518464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5E6A7A"/>
                </a:solidFill>
                <a:latin typeface="Segoe UI"/>
              </a:rPr>
              <a:t>PROJECTS REVENUE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73368" y="1609344"/>
            <a:ext cx="518464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100" b="1">
                <a:solidFill>
                  <a:srgbClr val="1E2B4D"/>
                </a:solidFill>
                <a:latin typeface="Segoe UI"/>
              </a:rPr>
              <a:t>$12.56M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73368" y="1984248"/>
            <a:ext cx="5184648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2D8659"/>
                </a:solidFill>
                <a:latin typeface="Segoe UI"/>
              </a:rPr>
              <a:t>114.1% of $11.00M budget · 70.2% of total revenue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502920" y="2697480"/>
          <a:ext cx="7863840" cy="337413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754880"/>
                <a:gridCol w="1554480"/>
                <a:gridCol w="1554480"/>
              </a:tblGrid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Segoe UI"/>
                        </a:rPr>
                        <a:t>Project (Capital)</a:t>
                      </a:r>
                    </a:p>
                  </a:txBody>
                  <a:tcPr marL="64008" marR="64008" marT="13716" marB="13716" anchor="ctr">
                    <a:solidFill>
                      <a:srgbClr val="1E2B4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FFFFFF"/>
                          </a:solidFill>
                          <a:latin typeface="Segoe UI"/>
                        </a:rPr>
                        <a:t>FY Actual</a:t>
                      </a:r>
                    </a:p>
                  </a:txBody>
                  <a:tcPr marL="64008" marR="64008" marT="13716" marB="13716" anchor="ctr">
                    <a:solidFill>
                      <a:srgbClr val="1E2B4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FFFFFF"/>
                          </a:solidFill>
                          <a:latin typeface="Segoe UI"/>
                        </a:rPr>
                        <a:t>% of Total Revenue</a:t>
                      </a:r>
                    </a:p>
                  </a:txBody>
                  <a:tcPr marL="64008" marR="64008" marT="13716" marB="13716" anchor="ctr">
                    <a:solidFill>
                      <a:srgbClr val="1E2B4D"/>
                    </a:solidFill>
                  </a:tcPr>
                </a:tc>
              </a:tr>
              <a:tr h="30632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22833"/>
                          </a:solidFill>
                          <a:latin typeface="Segoe UI"/>
                        </a:rPr>
                        <a:t>Huebert Fiberboard, Inc. (P2301-961)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222833"/>
                          </a:solidFill>
                          <a:latin typeface="Segoe UI"/>
                        </a:rPr>
                        <a:t>$6,165,896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222833"/>
                          </a:solidFill>
                          <a:latin typeface="Segoe UI"/>
                        </a:rPr>
                        <a:t>34.5%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22833"/>
                          </a:solidFill>
                          <a:latin typeface="Segoe UI"/>
                        </a:rPr>
                        <a:t>States Industries, LLC (P2405-356)</a:t>
                      </a:r>
                    </a:p>
                  </a:txBody>
                  <a:tcPr marL="64008" marR="64008" marT="13716" marB="13716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222833"/>
                          </a:solidFill>
                          <a:latin typeface="Segoe UI"/>
                        </a:rPr>
                        <a:t>$1,704,374</a:t>
                      </a:r>
                    </a:p>
                  </a:txBody>
                  <a:tcPr marL="64008" marR="64008" marT="13716" marB="13716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222833"/>
                          </a:solidFill>
                          <a:latin typeface="Segoe UI"/>
                        </a:rPr>
                        <a:t>9.5%</a:t>
                      </a:r>
                    </a:p>
                  </a:txBody>
                  <a:tcPr marL="64008" marR="64008" marT="13716" marB="13716" anchor="ctr">
                    <a:solidFill>
                      <a:srgbClr val="F5F7FA"/>
                    </a:solidFill>
                  </a:tcPr>
                </a:tc>
              </a:tr>
              <a:tr h="30632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22833"/>
                          </a:solidFill>
                          <a:latin typeface="Segoe UI"/>
                        </a:rPr>
                        <a:t>Eagle Veneer (P2509-655)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222833"/>
                          </a:solidFill>
                          <a:latin typeface="Segoe UI"/>
                        </a:rPr>
                        <a:t>$1,146,771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222833"/>
                          </a:solidFill>
                          <a:latin typeface="Segoe UI"/>
                        </a:rPr>
                        <a:t>6.4%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22833"/>
                          </a:solidFill>
                          <a:latin typeface="Segoe UI"/>
                        </a:rPr>
                        <a:t>Williams Lake Plywood — West Fraser (P2306-999)</a:t>
                      </a:r>
                    </a:p>
                  </a:txBody>
                  <a:tcPr marL="64008" marR="64008" marT="13716" marB="13716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222833"/>
                          </a:solidFill>
                          <a:latin typeface="Segoe UI"/>
                        </a:rPr>
                        <a:t>$693,341</a:t>
                      </a:r>
                    </a:p>
                  </a:txBody>
                  <a:tcPr marL="64008" marR="64008" marT="13716" marB="13716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222833"/>
                          </a:solidFill>
                          <a:latin typeface="Segoe UI"/>
                        </a:rPr>
                        <a:t>3.9%</a:t>
                      </a:r>
                    </a:p>
                  </a:txBody>
                  <a:tcPr marL="64008" marR="64008" marT="13716" marB="13716" anchor="ctr">
                    <a:solidFill>
                      <a:srgbClr val="F5F7FA"/>
                    </a:solidFill>
                  </a:tcPr>
                </a:tc>
              </a:tr>
              <a:tr h="30632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22833"/>
                          </a:solidFill>
                          <a:latin typeface="Segoe UI"/>
                        </a:rPr>
                        <a:t>Roseburg — Steam Coils (P2504-550)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222833"/>
                          </a:solidFill>
                          <a:latin typeface="Segoe UI"/>
                        </a:rPr>
                        <a:t>$655,045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222833"/>
                          </a:solidFill>
                          <a:latin typeface="Segoe UI"/>
                        </a:rPr>
                        <a:t>3.7%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22833"/>
                          </a:solidFill>
                          <a:latin typeface="Segoe UI"/>
                        </a:rPr>
                        <a:t>Roseburg — Exhaust Air Steam Coil (P2507-586)</a:t>
                      </a:r>
                    </a:p>
                  </a:txBody>
                  <a:tcPr marL="64008" marR="64008" marT="13716" marB="13716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222833"/>
                          </a:solidFill>
                          <a:latin typeface="Segoe UI"/>
                        </a:rPr>
                        <a:t>$275,847</a:t>
                      </a:r>
                    </a:p>
                  </a:txBody>
                  <a:tcPr marL="64008" marR="64008" marT="13716" marB="13716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222833"/>
                          </a:solidFill>
                          <a:latin typeface="Segoe UI"/>
                        </a:rPr>
                        <a:t>1.5%</a:t>
                      </a:r>
                    </a:p>
                  </a:txBody>
                  <a:tcPr marL="64008" marR="64008" marT="13716" marB="13716" anchor="ctr">
                    <a:solidFill>
                      <a:srgbClr val="F5F7FA"/>
                    </a:solidFill>
                  </a:tcPr>
                </a:tc>
              </a:tr>
              <a:tr h="30632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22833"/>
                          </a:solidFill>
                          <a:latin typeface="Segoe UI"/>
                        </a:rPr>
                        <a:t>Roseburg — Super Heater Coils (P2509-654)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222833"/>
                          </a:solidFill>
                          <a:latin typeface="Segoe UI"/>
                        </a:rPr>
                        <a:t>$194,171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222833"/>
                          </a:solidFill>
                          <a:latin typeface="Segoe UI"/>
                        </a:rPr>
                        <a:t>1.1%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22833"/>
                          </a:solidFill>
                          <a:latin typeface="Segoe UI"/>
                        </a:rPr>
                        <a:t>Gold Bond — Fort Dodge (P2504-549)</a:t>
                      </a:r>
                    </a:p>
                  </a:txBody>
                  <a:tcPr marL="64008" marR="64008" marT="13716" marB="13716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222833"/>
                          </a:solidFill>
                          <a:latin typeface="Segoe UI"/>
                        </a:rPr>
                        <a:t>$186,421</a:t>
                      </a:r>
                    </a:p>
                  </a:txBody>
                  <a:tcPr marL="64008" marR="64008" marT="13716" marB="13716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222833"/>
                          </a:solidFill>
                          <a:latin typeface="Segoe UI"/>
                        </a:rPr>
                        <a:t>1.0%</a:t>
                      </a:r>
                    </a:p>
                  </a:txBody>
                  <a:tcPr marL="64008" marR="64008" marT="13716" marB="13716" anchor="ctr">
                    <a:solidFill>
                      <a:srgbClr val="F5F7FA"/>
                    </a:solidFill>
                  </a:tcPr>
                </a:tc>
              </a:tr>
              <a:tr h="30632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22833"/>
                          </a:solidFill>
                          <a:latin typeface="Segoe UI"/>
                        </a:rPr>
                        <a:t>Other / unlisted projects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222833"/>
                          </a:solidFill>
                          <a:latin typeface="Segoe UI"/>
                        </a:rPr>
                        <a:t>$1,534,191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222833"/>
                          </a:solidFill>
                          <a:latin typeface="Segoe UI"/>
                        </a:rPr>
                        <a:t>8.6%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222833"/>
                          </a:solidFill>
                          <a:latin typeface="Segoe UI"/>
                        </a:rPr>
                        <a:t>Projects total</a:t>
                      </a:r>
                    </a:p>
                  </a:txBody>
                  <a:tcPr marL="64008" marR="64008" marT="13716" marB="13716" anchor="ctr">
                    <a:solidFill>
                      <a:srgbClr val="E8EF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222833"/>
                          </a:solidFill>
                          <a:latin typeface="Segoe UI"/>
                        </a:rPr>
                        <a:t>$12,556,057</a:t>
                      </a:r>
                    </a:p>
                  </a:txBody>
                  <a:tcPr marL="64008" marR="64008" marT="13716" marB="13716" anchor="ctr">
                    <a:solidFill>
                      <a:srgbClr val="E8EF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222833"/>
                          </a:solidFill>
                          <a:latin typeface="Segoe UI"/>
                        </a:rPr>
                        <a:t>70.2%</a:t>
                      </a:r>
                    </a:p>
                  </a:txBody>
                  <a:tcPr marL="64008" marR="64008" marT="13716" marB="13716" anchor="ctr">
                    <a:solidFill>
                      <a:srgbClr val="E8EFF8"/>
                    </a:solidFill>
                  </a:tcPr>
                </a:tc>
              </a:tr>
            </a:tbl>
          </a:graphicData>
        </a:graphic>
      </p:graphicFrame>
      <p:sp>
        <p:nvSpPr>
          <p:cNvPr id="17" name="Rounded Rectangle 16"/>
          <p:cNvSpPr/>
          <p:nvPr/>
        </p:nvSpPr>
        <p:spPr>
          <a:xfrm>
            <a:off x="8595360" y="2697480"/>
            <a:ext cx="3090672" cy="3401568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9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23960" y="2880360"/>
            <a:ext cx="2651760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150" b="1">
                <a:solidFill>
                  <a:srgbClr val="1E2B4D"/>
                </a:solidFill>
                <a:latin typeface="Segoe UI"/>
              </a:rPr>
              <a:t>Concentration watch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050" b="0">
                <a:solidFill>
                  <a:srgbClr val="222833"/>
                </a:solidFill>
                <a:latin typeface="Segoe UI"/>
              </a:rPr>
              <a:t>Huebert Fiberboard alone was 34.5% of FY26 revenue. The FY27 plan rebuilds the capital book around Blue Ridge plus a contracted backbone, while Parts (30% of revenue) remains the predictable engine.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050" b="0">
                <a:solidFill>
                  <a:srgbClr val="5E6A7A"/>
                </a:solidFill>
                <a:latin typeface="Segoe UI"/>
              </a:rPr>
              <a:t>Parts outperformance (+$1.33M vs budget) anchors the FY27 Parts Growth goal of $5.5M+.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2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18872"/>
            <a:ext cx="8778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9FC0EE"/>
                </a:solidFill>
                <a:latin typeface="Segoe UI"/>
              </a:rPr>
              <a:t>FY2026 · PERFORMANCE CADENCE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47472"/>
            <a:ext cx="89611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300" b="1">
                <a:solidFill>
                  <a:srgbClr val="FFFFFF"/>
                </a:solidFill>
                <a:latin typeface="Segoe UI"/>
              </a:rPr>
              <a:t>Monthly Sales &amp; Quarterly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95360" y="118872"/>
            <a:ext cx="310896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9FC0EE"/>
                </a:solidFill>
                <a:latin typeface="Segoe UI"/>
              </a:rPr>
              <a:t>Pre-tax basis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9672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5E6A7A"/>
                </a:solidFill>
                <a:latin typeface="Segoe UI"/>
              </a:rPr>
              <a:t>The WESTMILL Way  —  "We've got your back."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0" y="6519672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5E6A7A"/>
                </a:solidFill>
                <a:latin typeface="Segoe UI"/>
              </a:rPr>
              <a:t>Westmill Industries Ltd. · Board Review · July 2026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502920" y="1325880"/>
          <a:ext cx="6949440" cy="3200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726679" y="1417320"/>
          <a:ext cx="3977636" cy="236829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25879"/>
                <a:gridCol w="697831"/>
                <a:gridCol w="593156"/>
                <a:gridCol w="697831"/>
                <a:gridCol w="662939"/>
              </a:tblGrid>
              <a:tr h="338328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Segoe UI"/>
                        </a:rPr>
                        <a:t>Quarter</a:t>
                      </a:r>
                    </a:p>
                  </a:txBody>
                  <a:tcPr marL="64008" marR="64008" marT="13716" marB="13716" anchor="ctr">
                    <a:solidFill>
                      <a:srgbClr val="1E2B4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FFFFFF"/>
                          </a:solidFill>
                          <a:latin typeface="Segoe UI"/>
                        </a:rPr>
                        <a:t>Sales</a:t>
                      </a:r>
                    </a:p>
                  </a:txBody>
                  <a:tcPr marL="64008" marR="64008" marT="13716" marB="13716" anchor="ctr">
                    <a:solidFill>
                      <a:srgbClr val="1E2B4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FFFFFF"/>
                          </a:solidFill>
                          <a:latin typeface="Segoe UI"/>
                        </a:rPr>
                        <a:t>% of FY</a:t>
                      </a:r>
                    </a:p>
                  </a:txBody>
                  <a:tcPr marL="64008" marR="64008" marT="13716" marB="13716" anchor="ctr">
                    <a:solidFill>
                      <a:srgbClr val="1E2B4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FFFFFF"/>
                          </a:solidFill>
                          <a:latin typeface="Segoe UI"/>
                        </a:rPr>
                        <a:t>Net Income</a:t>
                      </a:r>
                    </a:p>
                  </a:txBody>
                  <a:tcPr marL="64008" marR="64008" marT="13716" marB="13716" anchor="ctr">
                    <a:solidFill>
                      <a:srgbClr val="1E2B4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FFFFFF"/>
                          </a:solidFill>
                          <a:latin typeface="Segoe UI"/>
                        </a:rPr>
                        <a:t>NI margin</a:t>
                      </a:r>
                    </a:p>
                  </a:txBody>
                  <a:tcPr marL="64008" marR="64008" marT="13716" marB="13716" anchor="ctr">
                    <a:solidFill>
                      <a:srgbClr val="1E2B4D"/>
                    </a:solidFill>
                  </a:tcPr>
                </a:tc>
              </a:tr>
              <a:tr h="338328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22833"/>
                          </a:solidFill>
                          <a:latin typeface="Segoe UI"/>
                        </a:rPr>
                        <a:t>Q1 (Jul–Sep 25)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222833"/>
                          </a:solidFill>
                          <a:latin typeface="Segoe UI"/>
                        </a:rPr>
                        <a:t>$3.85M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222833"/>
                          </a:solidFill>
                          <a:latin typeface="Segoe UI"/>
                        </a:rPr>
                        <a:t>21.5%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222833"/>
                          </a:solidFill>
                          <a:latin typeface="Segoe UI"/>
                        </a:rPr>
                        <a:t>$0.87M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222833"/>
                          </a:solidFill>
                          <a:latin typeface="Segoe UI"/>
                        </a:rPr>
                        <a:t>22.5%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22833"/>
                          </a:solidFill>
                          <a:latin typeface="Segoe UI"/>
                        </a:rPr>
                        <a:t>Q2 (Oct–Dec 25)</a:t>
                      </a:r>
                    </a:p>
                  </a:txBody>
                  <a:tcPr marL="64008" marR="64008" marT="13716" marB="13716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222833"/>
                          </a:solidFill>
                          <a:latin typeface="Segoe UI"/>
                        </a:rPr>
                        <a:t>$8.14M</a:t>
                      </a:r>
                    </a:p>
                  </a:txBody>
                  <a:tcPr marL="64008" marR="64008" marT="13716" marB="13716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222833"/>
                          </a:solidFill>
                          <a:latin typeface="Segoe UI"/>
                        </a:rPr>
                        <a:t>45.5%</a:t>
                      </a:r>
                    </a:p>
                  </a:txBody>
                  <a:tcPr marL="64008" marR="64008" marT="13716" marB="13716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222833"/>
                          </a:solidFill>
                          <a:latin typeface="Segoe UI"/>
                        </a:rPr>
                        <a:t>$2.76M</a:t>
                      </a:r>
                    </a:p>
                  </a:txBody>
                  <a:tcPr marL="64008" marR="64008" marT="13716" marB="13716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222833"/>
                          </a:solidFill>
                          <a:latin typeface="Segoe UI"/>
                        </a:rPr>
                        <a:t>33.8%</a:t>
                      </a:r>
                    </a:p>
                  </a:txBody>
                  <a:tcPr marL="64008" marR="64008" marT="13716" marB="13716" anchor="ctr">
                    <a:solidFill>
                      <a:srgbClr val="F5F7FA"/>
                    </a:solidFill>
                  </a:tcPr>
                </a:tc>
              </a:tr>
              <a:tr h="338328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22833"/>
                          </a:solidFill>
                          <a:latin typeface="Segoe UI"/>
                        </a:rPr>
                        <a:t>Q3 (Jan–Mar 26)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222833"/>
                          </a:solidFill>
                          <a:latin typeface="Segoe UI"/>
                        </a:rPr>
                        <a:t>$2.54M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222833"/>
                          </a:solidFill>
                          <a:latin typeface="Segoe UI"/>
                        </a:rPr>
                        <a:t>14.2%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222833"/>
                          </a:solidFill>
                          <a:latin typeface="Segoe UI"/>
                        </a:rPr>
                        <a:t>$0.43M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222833"/>
                          </a:solidFill>
                          <a:latin typeface="Segoe UI"/>
                        </a:rPr>
                        <a:t>16.9%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22833"/>
                          </a:solidFill>
                          <a:latin typeface="Segoe UI"/>
                        </a:rPr>
                        <a:t>Q4 (Apr–Jun 26)</a:t>
                      </a:r>
                    </a:p>
                  </a:txBody>
                  <a:tcPr marL="64008" marR="64008" marT="13716" marB="13716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222833"/>
                          </a:solidFill>
                          <a:latin typeface="Segoe UI"/>
                        </a:rPr>
                        <a:t>$3.35M</a:t>
                      </a:r>
                    </a:p>
                  </a:txBody>
                  <a:tcPr marL="64008" marR="64008" marT="13716" marB="13716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222833"/>
                          </a:solidFill>
                          <a:latin typeface="Segoe UI"/>
                        </a:rPr>
                        <a:t>18.7%</a:t>
                      </a:r>
                    </a:p>
                  </a:txBody>
                  <a:tcPr marL="64008" marR="64008" marT="13716" marB="13716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222833"/>
                          </a:solidFill>
                          <a:latin typeface="Segoe UI"/>
                        </a:rPr>
                        <a:t>$0.41M</a:t>
                      </a:r>
                    </a:p>
                  </a:txBody>
                  <a:tcPr marL="64008" marR="64008" marT="13716" marB="13716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222833"/>
                          </a:solidFill>
                          <a:latin typeface="Segoe UI"/>
                        </a:rPr>
                        <a:t>12.2%</a:t>
                      </a:r>
                    </a:p>
                  </a:txBody>
                  <a:tcPr marL="64008" marR="64008" marT="13716" marB="13716" anchor="ctr">
                    <a:solidFill>
                      <a:srgbClr val="F5F7FA"/>
                    </a:solidFill>
                  </a:tcPr>
                </a:tc>
              </a:tr>
              <a:tr h="338328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222833"/>
                          </a:solidFill>
                          <a:latin typeface="Segoe UI"/>
                        </a:rPr>
                        <a:t>FY pre-tax</a:t>
                      </a:r>
                    </a:p>
                  </a:txBody>
                  <a:tcPr marL="64008" marR="64008" marT="13716" marB="13716" anchor="ctr">
                    <a:solidFill>
                      <a:srgbClr val="E8EF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1">
                          <a:solidFill>
                            <a:srgbClr val="222833"/>
                          </a:solidFill>
                          <a:latin typeface="Segoe UI"/>
                        </a:rPr>
                        <a:t>$17.9M</a:t>
                      </a:r>
                    </a:p>
                  </a:txBody>
                  <a:tcPr marL="64008" marR="64008" marT="13716" marB="13716" anchor="ctr">
                    <a:solidFill>
                      <a:srgbClr val="E8EF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1">
                          <a:solidFill>
                            <a:srgbClr val="222833"/>
                          </a:solidFill>
                          <a:latin typeface="Segoe UI"/>
                        </a:rPr>
                        <a:t>100%</a:t>
                      </a:r>
                    </a:p>
                  </a:txBody>
                  <a:tcPr marL="64008" marR="64008" marT="13716" marB="13716" anchor="ctr">
                    <a:solidFill>
                      <a:srgbClr val="E8EF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1">
                          <a:solidFill>
                            <a:srgbClr val="222833"/>
                          </a:solidFill>
                          <a:latin typeface="Segoe UI"/>
                        </a:rPr>
                        <a:t>$4.46M</a:t>
                      </a:r>
                    </a:p>
                  </a:txBody>
                  <a:tcPr marL="64008" marR="64008" marT="13716" marB="13716" anchor="ctr">
                    <a:solidFill>
                      <a:srgbClr val="E8EF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1">
                          <a:solidFill>
                            <a:srgbClr val="222833"/>
                          </a:solidFill>
                          <a:latin typeface="Segoe UI"/>
                        </a:rPr>
                        <a:t>24.9%</a:t>
                      </a:r>
                    </a:p>
                  </a:txBody>
                  <a:tcPr marL="64008" marR="64008" marT="13716" marB="13716" anchor="ctr">
                    <a:solidFill>
                      <a:srgbClr val="E8EFF8"/>
                    </a:solidFill>
                  </a:tcPr>
                </a:tc>
              </a:tr>
              <a:tr h="338328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222833"/>
                          </a:solidFill>
                          <a:latin typeface="Segoe UI"/>
                        </a:rPr>
                        <a:t>FY after tax</a:t>
                      </a:r>
                    </a:p>
                  </a:txBody>
                  <a:tcPr marL="64008" marR="64008" marT="13716" marB="13716" anchor="ctr">
                    <a:solidFill>
                      <a:srgbClr val="E8EF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1">
                          <a:solidFill>
                            <a:srgbClr val="222833"/>
                          </a:solidFill>
                          <a:latin typeface="Segoe UI"/>
                        </a:rPr>
                        <a:t>$17.9M</a:t>
                      </a:r>
                    </a:p>
                  </a:txBody>
                  <a:tcPr marL="64008" marR="64008" marT="13716" marB="13716" anchor="ctr">
                    <a:solidFill>
                      <a:srgbClr val="E8EF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1">
                          <a:solidFill>
                            <a:srgbClr val="222833"/>
                          </a:solidFill>
                          <a:latin typeface="Segoe UI"/>
                        </a:rPr>
                        <a:t>100%</a:t>
                      </a:r>
                    </a:p>
                  </a:txBody>
                  <a:tcPr marL="64008" marR="64008" marT="13716" marB="13716" anchor="ctr">
                    <a:solidFill>
                      <a:srgbClr val="E8EF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1">
                          <a:solidFill>
                            <a:srgbClr val="222833"/>
                          </a:solidFill>
                          <a:latin typeface="Segoe UI"/>
                        </a:rPr>
                        <a:t>$3.36M</a:t>
                      </a:r>
                    </a:p>
                  </a:txBody>
                  <a:tcPr marL="64008" marR="64008" marT="13716" marB="13716" anchor="ctr">
                    <a:solidFill>
                      <a:srgbClr val="E8EF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1">
                          <a:solidFill>
                            <a:srgbClr val="222833"/>
                          </a:solidFill>
                          <a:latin typeface="Segoe UI"/>
                        </a:rPr>
                        <a:t>18.8%</a:t>
                      </a:r>
                    </a:p>
                  </a:txBody>
                  <a:tcPr marL="64008" marR="64008" marT="13716" marB="13716" anchor="ctr">
                    <a:solidFill>
                      <a:srgbClr val="E8EFF8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02920" y="4800600"/>
            <a:ext cx="11183112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222833"/>
                </a:solidFill>
                <a:latin typeface="Segoe UI"/>
              </a:rPr>
              <a:t>•  November was the standout month: $5.96M in sales (33% of the year) at a 38.3% NI margin, driven by major project milestones.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222833"/>
                </a:solidFill>
                <a:latin typeface="Segoe UI"/>
              </a:rPr>
              <a:t>•  Q2 delivered 45.5% of annual revenue — the capital business remains lumpy, reinforcing the strategic priority of growing predictable Parts revenue.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222833"/>
                </a:solidFill>
                <a:latin typeface="Segoe UI"/>
              </a:rPr>
              <a:t>•  Four months ran at a small pre-tax loss (Sep, Dec, Apr, and June after year-end adjustments) — absorbed comfortably by project-heavy months.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2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18872"/>
            <a:ext cx="8778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9FC0EE"/>
                </a:solidFill>
                <a:latin typeface="Segoe UI"/>
              </a:rPr>
              <a:t>FY2026 · BALANCE SHEET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47472"/>
            <a:ext cx="89611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300" b="1">
                <a:solidFill>
                  <a:srgbClr val="FFFFFF"/>
                </a:solidFill>
                <a:latin typeface="Segoe UI"/>
              </a:rPr>
              <a:t>Net Working Capital &amp; Cash Position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95360" y="118872"/>
            <a:ext cx="310896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9FC0EE"/>
                </a:solidFill>
                <a:latin typeface="Segoe UI"/>
              </a:rPr>
              <a:t>Deal basis (M&amp;A) primary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9672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5E6A7A"/>
                </a:solidFill>
                <a:latin typeface="Segoe UI"/>
              </a:rPr>
              <a:t>The WESTMILL Way  —  "We've got your back."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0" y="6519672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5E6A7A"/>
                </a:solidFill>
                <a:latin typeface="Segoe UI"/>
              </a:rPr>
              <a:t>Westmill Industries Ltd. · Board Review · July 2026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280160"/>
            <a:ext cx="2724912" cy="1188720"/>
          </a:xfrm>
          <a:prstGeom prst="roundRect">
            <a:avLst>
              <a:gd name="adj" fmla="val 8000"/>
            </a:avLst>
          </a:prstGeom>
          <a:solidFill>
            <a:srgbClr val="E8EFF8"/>
          </a:solidFill>
          <a:ln w="9525">
            <a:solidFill>
              <a:srgbClr val="3B7D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" y="1380744"/>
            <a:ext cx="24688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5E6A7A"/>
                </a:solidFill>
                <a:latin typeface="Segoe UI"/>
              </a:rPr>
              <a:t>NWC (DEAL BASIS) — 12-MO AVG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" y="1609344"/>
            <a:ext cx="2468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100" b="1">
                <a:solidFill>
                  <a:srgbClr val="1E2B4D"/>
                </a:solidFill>
                <a:latin typeface="Segoe UI"/>
              </a:rPr>
              <a:t>$1.15M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" y="1984248"/>
            <a:ext cx="24688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5E6A7A"/>
                </a:solidFill>
                <a:latin typeface="Segoe UI"/>
              </a:rPr>
              <a:t>6.4% of FY sales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19272" y="1280160"/>
            <a:ext cx="2724912" cy="118872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9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47288" y="1380744"/>
            <a:ext cx="24688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5E6A7A"/>
                </a:solidFill>
                <a:latin typeface="Segoe UI"/>
              </a:rPr>
              <a:t>NWC (DEAL BASIS) — JUN 30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47288" y="1609344"/>
            <a:ext cx="2468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100" b="1">
                <a:solidFill>
                  <a:srgbClr val="1E2B4D"/>
                </a:solidFill>
                <a:latin typeface="Segoe UI"/>
              </a:rPr>
              <a:t>$1.66M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47288" y="1984248"/>
            <a:ext cx="24688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5E6A7A"/>
                </a:solidFill>
                <a:latin typeface="Segoe UI"/>
              </a:rPr>
              <a:t>Current ratio adj. 2.2x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35624" y="1280160"/>
            <a:ext cx="2724912" cy="118872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9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63640" y="1380744"/>
            <a:ext cx="24688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5E6A7A"/>
                </a:solidFill>
                <a:latin typeface="Segoe UI"/>
              </a:rPr>
              <a:t>NWC (GAAP) — JUN 30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1609344"/>
            <a:ext cx="2468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100" b="1">
                <a:solidFill>
                  <a:srgbClr val="1E2B4D"/>
                </a:solidFill>
                <a:latin typeface="Segoe UI"/>
              </a:rPr>
              <a:t>$8.19M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63640" y="1984248"/>
            <a:ext cx="24688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5E6A7A"/>
                </a:solidFill>
                <a:latin typeface="Segoe UI"/>
              </a:rPr>
              <a:t>Current ratio GAAP 6.8x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51976" y="1280160"/>
            <a:ext cx="2724912" cy="118872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9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79992" y="1380744"/>
            <a:ext cx="24688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5E6A7A"/>
                </a:solidFill>
                <a:latin typeface="Segoe UI"/>
              </a:rPr>
              <a:t>CASH — JUN 30, 2026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79992" y="1609344"/>
            <a:ext cx="2468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100" b="1">
                <a:solidFill>
                  <a:srgbClr val="1E2B4D"/>
                </a:solidFill>
                <a:latin typeface="Segoe UI"/>
              </a:rPr>
              <a:t>$4.98M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79992" y="1984248"/>
            <a:ext cx="24688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5E6A7A"/>
                </a:solidFill>
                <a:latin typeface="Segoe UI"/>
              </a:rPr>
              <a:t>FY range $1.34M – $5.34M</a:t>
            </a:r>
          </a:p>
        </p:txBody>
      </p:sp>
      <p:graphicFrame>
        <p:nvGraphicFramePr>
          <p:cNvPr id="24" name="Table 23"/>
          <p:cNvGraphicFramePr>
            <a:graphicFrameLocks noGrp="1"/>
          </p:cNvGraphicFramePr>
          <p:nvPr/>
        </p:nvGraphicFramePr>
        <p:xfrm>
          <a:off x="502920" y="2743200"/>
          <a:ext cx="5577839" cy="234086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511973"/>
                <a:gridCol w="2065866"/>
              </a:tblGrid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Segoe UI"/>
                        </a:rPr>
                        <a:t>Working-capital KPI (FY26, board basis)</a:t>
                      </a:r>
                    </a:p>
                  </a:txBody>
                  <a:tcPr marL="64008" marR="64008" marT="13716" marB="13716" anchor="ctr">
                    <a:solidFill>
                      <a:srgbClr val="1E2B4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FFFFFF"/>
                          </a:solidFill>
                          <a:latin typeface="Segoe UI"/>
                        </a:rPr>
                        <a:t>Value</a:t>
                      </a:r>
                    </a:p>
                  </a:txBody>
                  <a:tcPr marL="64008" marR="64008" marT="13716" marB="13716" anchor="ctr">
                    <a:solidFill>
                      <a:srgbClr val="1E2B4D"/>
                    </a:solidFill>
                  </a:tcPr>
                </a:tc>
              </a:tr>
              <a:tr h="338328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22833"/>
                          </a:solidFill>
                          <a:latin typeface="Segoe UI"/>
                        </a:rPr>
                        <a:t>Days Sales Outstanding (DSO)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222833"/>
                          </a:solidFill>
                          <a:latin typeface="Segoe UI"/>
                        </a:rPr>
                        <a:t>41.8 days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22833"/>
                          </a:solidFill>
                          <a:latin typeface="Segoe UI"/>
                        </a:rPr>
                        <a:t>Days Inventory Outstanding (DIO)</a:t>
                      </a:r>
                    </a:p>
                  </a:txBody>
                  <a:tcPr marL="64008" marR="64008" marT="13716" marB="13716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222833"/>
                          </a:solidFill>
                          <a:latin typeface="Segoe UI"/>
                        </a:rPr>
                        <a:t>49.4 days</a:t>
                      </a:r>
                    </a:p>
                  </a:txBody>
                  <a:tcPr marL="64008" marR="64008" marT="13716" marB="13716" anchor="ctr">
                    <a:solidFill>
                      <a:srgbClr val="F5F7FA"/>
                    </a:solidFill>
                  </a:tcPr>
                </a:tc>
              </a:tr>
              <a:tr h="338328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22833"/>
                          </a:solidFill>
                          <a:latin typeface="Segoe UI"/>
                        </a:rPr>
                        <a:t>Days Payable Outstanding (DPO)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222833"/>
                          </a:solidFill>
                          <a:latin typeface="Segoe UI"/>
                        </a:rPr>
                        <a:t>10.8 days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22833"/>
                          </a:solidFill>
                          <a:latin typeface="Segoe UI"/>
                        </a:rPr>
                        <a:t>Cash Conversion Cycle (DSO+DIO−DPO)</a:t>
                      </a:r>
                    </a:p>
                  </a:txBody>
                  <a:tcPr marL="64008" marR="64008" marT="13716" marB="13716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222833"/>
                          </a:solidFill>
                          <a:latin typeface="Segoe UI"/>
                        </a:rPr>
                        <a:t>80.4 days</a:t>
                      </a:r>
                    </a:p>
                  </a:txBody>
                  <a:tcPr marL="64008" marR="64008" marT="13716" marB="13716" anchor="ctr">
                    <a:solidFill>
                      <a:srgbClr val="F5F7FA"/>
                    </a:solidFill>
                  </a:tcPr>
                </a:tc>
              </a:tr>
              <a:tr h="338328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22833"/>
                          </a:solidFill>
                          <a:latin typeface="Segoe UI"/>
                        </a:rPr>
                        <a:t>Op NWC avg (excl. deposits)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222833"/>
                          </a:solidFill>
                          <a:latin typeface="Segoe UI"/>
                        </a:rPr>
                        <a:t>$3.05M · 17.1% of sales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22833"/>
                          </a:solidFill>
                          <a:latin typeface="Segoe UI"/>
                        </a:rPr>
                        <a:t>Net WC avg (after deposits)</a:t>
                      </a:r>
                    </a:p>
                  </a:txBody>
                  <a:tcPr marL="64008" marR="64008" marT="13716" marB="13716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222833"/>
                          </a:solidFill>
                          <a:latin typeface="Segoe UI"/>
                        </a:rPr>
                        <a:t>$1.17M · 6.5% of sales</a:t>
                      </a:r>
                    </a:p>
                  </a:txBody>
                  <a:tcPr marL="64008" marR="64008" marT="13716" marB="13716" anchor="ctr"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25" name="Rounded Rectangle 24"/>
          <p:cNvSpPr/>
          <p:nvPr/>
        </p:nvSpPr>
        <p:spPr>
          <a:xfrm>
            <a:off x="6400800" y="2743200"/>
            <a:ext cx="5285232" cy="3310128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9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75120" y="2926080"/>
            <a:ext cx="4754880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150" b="1">
                <a:solidFill>
                  <a:srgbClr val="1E2B4D"/>
                </a:solidFill>
                <a:latin typeface="Segoe UI"/>
              </a:rPr>
              <a:t>Definition &amp; outlook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050" b="0">
                <a:solidFill>
                  <a:srgbClr val="222833"/>
                </a:solidFill>
                <a:latin typeface="Segoe UI"/>
              </a:rPr>
              <a:t>NWC (Deal Basis) = (AR + WIP + Inventory + Prepaid) − (AP/Accruals + Warranty + Deferred Revenue) — confirmed as the correct M&amp;A definition per the NWC Review methodology. Excludes cash, tax items and debt (none exists).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050" b="0">
                <a:solidFill>
                  <a:srgbClr val="222833"/>
                </a:solidFill>
                <a:latin typeface="Segoe UI"/>
              </a:rPr>
              <a:t>Monthly deal-basis NWC ranged from ($1.53M) in Oct (deposit-funded) to $2.47M in Dec, averaging $1.15M across the full 12 months.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050" b="0">
                <a:solidFill>
                  <a:srgbClr val="5E6A7A"/>
                </a:solidFill>
                <a:latin typeface="Segoe UI"/>
              </a:rPr>
              <a:t>Cash outlook: the June 2026 forecast projects cash building from $4.98M to a $6.1–6.3M range through Sep–Oct 2026 on project milestone billings (Eagle Veneer, Armstrong, Boise Cascade) — a projection, not a commitment.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2313432"/>
            <a:ext cx="82296" cy="1737360"/>
          </a:xfrm>
          <a:prstGeom prst="rect">
            <a:avLst/>
          </a:prstGeom>
          <a:solidFill>
            <a:srgbClr val="3B7D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224028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000" b="1">
                <a:solidFill>
                  <a:srgbClr val="3B7DD8"/>
                </a:solidFill>
                <a:latin typeface="Segoe UI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74320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4000" b="1">
                <a:solidFill>
                  <a:srgbClr val="FFFFFF"/>
                </a:solidFill>
                <a:latin typeface="Segoe UI"/>
              </a:rPr>
              <a:t>FY27 Operating Budget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3703320"/>
            <a:ext cx="98755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0">
                <a:solidFill>
                  <a:srgbClr val="B9C6DE"/>
                </a:solidFill>
                <a:latin typeface="Segoe UI"/>
              </a:rPr>
              <a:t>Target (Baseline Budget) scenario — key metrics, scenario range, OPEX management view, FY26 comparison, and the proposed strategic investment. All figures CAD at 1.36 USD/CAD budget FX.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35508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8A97B5"/>
                </a:solidFill>
                <a:latin typeface="Segoe UI"/>
              </a:rPr>
              <a:t>The WESTMILL Way  —  "We've got your back."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2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18872"/>
            <a:ext cx="8778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9FC0EE"/>
                </a:solidFill>
                <a:latin typeface="Segoe UI"/>
              </a:rPr>
              <a:t>FY27 BUDGET · TARGET SCENARIO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47472"/>
            <a:ext cx="89611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300" b="1">
                <a:solidFill>
                  <a:srgbClr val="FFFFFF"/>
                </a:solidFill>
                <a:latin typeface="Segoe UI"/>
              </a:rPr>
              <a:t>FY27 Target — Key Metrics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95360" y="118872"/>
            <a:ext cx="310896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9FC0EE"/>
                </a:solidFill>
                <a:latin typeface="Segoe UI"/>
              </a:rPr>
              <a:t>Baseline Budget · CAD @ 1.36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9672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5E6A7A"/>
                </a:solidFill>
                <a:latin typeface="Segoe UI"/>
              </a:rPr>
              <a:t>The WESTMILL Way  —  "We've got your back."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0" y="6519672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5E6A7A"/>
                </a:solidFill>
                <a:latin typeface="Segoe UI"/>
              </a:rPr>
              <a:t>Westmill Industries Ltd. · Board Review · July 2026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280160"/>
            <a:ext cx="2724912" cy="1207008"/>
          </a:xfrm>
          <a:prstGeom prst="roundRect">
            <a:avLst>
              <a:gd name="adj" fmla="val 8000"/>
            </a:avLst>
          </a:prstGeom>
          <a:solidFill>
            <a:srgbClr val="E8EFF8"/>
          </a:solidFill>
          <a:ln w="9525">
            <a:solidFill>
              <a:srgbClr val="3B7D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" y="1380744"/>
            <a:ext cx="24688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5E6A7A"/>
                </a:solidFill>
                <a:latin typeface="Segoe UI"/>
              </a:rPr>
              <a:t>TOTAL REVENUE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" y="1609344"/>
            <a:ext cx="2468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100" b="1">
                <a:solidFill>
                  <a:srgbClr val="1E2B4D"/>
                </a:solidFill>
                <a:latin typeface="Segoe UI"/>
              </a:rPr>
              <a:t>$18.86M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" y="2002536"/>
            <a:ext cx="24688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5E6A7A"/>
                </a:solidFill>
                <a:latin typeface="Segoe UI"/>
              </a:rPr>
              <a:t>Parts $5.58M (30%) · Capital $13.28M (70%)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19272" y="1280160"/>
            <a:ext cx="2724912" cy="1207008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9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47288" y="1380744"/>
            <a:ext cx="24688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5E6A7A"/>
                </a:solidFill>
                <a:latin typeface="Segoe UI"/>
              </a:rPr>
              <a:t>GROSS PROFIT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47288" y="1609344"/>
            <a:ext cx="2468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100" b="1">
                <a:solidFill>
                  <a:srgbClr val="1E2B4D"/>
                </a:solidFill>
                <a:latin typeface="Segoe UI"/>
              </a:rPr>
              <a:t>$7.98M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47288" y="2002536"/>
            <a:ext cx="24688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5E6A7A"/>
                </a:solidFill>
                <a:latin typeface="Segoe UI"/>
              </a:rPr>
              <a:t>42% margin · Parts GP 48% · Capital GP 41%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35624" y="1280160"/>
            <a:ext cx="2724912" cy="1207008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9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63640" y="1380744"/>
            <a:ext cx="24688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5E6A7A"/>
                </a:solidFill>
                <a:latin typeface="Segoe UI"/>
              </a:rPr>
              <a:t>CORE OPEX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1609344"/>
            <a:ext cx="2468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100" b="1">
                <a:solidFill>
                  <a:srgbClr val="1E2B4D"/>
                </a:solidFill>
                <a:latin typeface="Segoe UI"/>
              </a:rPr>
              <a:t>$3.71M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63640" y="2002536"/>
            <a:ext cx="24688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2D8659"/>
                </a:solidFill>
                <a:latin typeface="Segoe UI"/>
              </a:rPr>
              <a:t>20% of revenue · 5% below FY26 budget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51976" y="1280160"/>
            <a:ext cx="2724912" cy="1207008"/>
          </a:xfrm>
          <a:prstGeom prst="roundRect">
            <a:avLst>
              <a:gd name="adj" fmla="val 8000"/>
            </a:avLst>
          </a:prstGeom>
          <a:solidFill>
            <a:srgbClr val="E8EFF8"/>
          </a:solidFill>
          <a:ln w="9525">
            <a:solidFill>
              <a:srgbClr val="3B7D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79992" y="1380744"/>
            <a:ext cx="24688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5E6A7A"/>
                </a:solidFill>
                <a:latin typeface="Segoe UI"/>
              </a:rPr>
              <a:t>EBIT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79992" y="1609344"/>
            <a:ext cx="2468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100" b="1">
                <a:solidFill>
                  <a:srgbClr val="1E2B4D"/>
                </a:solidFill>
                <a:latin typeface="Segoe UI"/>
              </a:rPr>
              <a:t>$4.27M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79992" y="2002536"/>
            <a:ext cx="24688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5E6A7A"/>
                </a:solidFill>
                <a:latin typeface="Segoe UI"/>
              </a:rPr>
              <a:t>23% of revenue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" y="2743200"/>
            <a:ext cx="11183112" cy="2103120"/>
          </a:xfrm>
          <a:prstGeom prst="roundRect">
            <a:avLst>
              <a:gd name="adj" fmla="val 80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2907792"/>
            <a:ext cx="1069848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250" b="1">
                <a:solidFill>
                  <a:srgbClr val="1E2B4D"/>
                </a:solidFill>
                <a:latin typeface="Segoe UI"/>
              </a:rPr>
              <a:t>Target: Baseline Budget — Blue Ridge focus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150" b="0">
                <a:solidFill>
                  <a:srgbClr val="222833"/>
                </a:solidFill>
                <a:latin typeface="Segoe UI"/>
              </a:rPr>
              <a:t>The Target scenario concentrates execution capacity where confidence is highest. Blue Ridge scales to $8.09M CAD — an intermediate scope between the on-books engineering phase and the full Upside projection. Tolko is deferred (not yet awarded or pushed beyond Q1); if the Tolko award slips, engineering and manufacturing resources redirect to Blue Ridge to accelerate delivery. Assuming a Blue Ridge purchase order by end of Q1 FY27, $8.09M of materials can be delivered by fiscal year-end. Other small projects are recognised at $2.0M.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150" b="0">
                <a:solidFill>
                  <a:srgbClr val="222833"/>
                </a:solidFill>
                <a:latin typeface="Segoe UI"/>
              </a:rPr>
              <a:t>Parts revenue tracks Upside at $5.58M, maintaining steady WIL and USA growth — consistent with the VTO Parts Growth goal of $5.5M+.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5074920"/>
            <a:ext cx="11183112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222833"/>
                </a:solidFill>
                <a:latin typeface="Segoe UI"/>
              </a:rPr>
              <a:t>•  FY27 target revenue of $18.86M is +5.4% on FY26 actual ($17.89M) and +25.7% on FY26 budget.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222833"/>
                </a:solidFill>
                <a:latin typeface="Segoe UI"/>
              </a:rPr>
              <a:t>•  Gross margin plans at 42% vs 45.5% FY26 actual — mix shifts toward capital manufacturing scope.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222833"/>
                </a:solidFill>
                <a:latin typeface="Segoe UI"/>
              </a:rPr>
              <a:t>•  EBIT of $4.27M compares with FY26 operating profit of $4.36M — holding profit while re-investing in growth.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2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18872"/>
            <a:ext cx="8778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9FC0EE"/>
                </a:solidFill>
                <a:latin typeface="Segoe UI"/>
              </a:rPr>
              <a:t>FY27 BUDGET · SCENARIO RANGE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47472"/>
            <a:ext cx="89611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300" b="1">
                <a:solidFill>
                  <a:srgbClr val="FFFFFF"/>
                </a:solidFill>
                <a:latin typeface="Segoe UI"/>
              </a:rPr>
              <a:t>EBIT by Scenario — Downside to Blue Sky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95360" y="118872"/>
            <a:ext cx="310896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9FC0EE"/>
                </a:solidFill>
                <a:latin typeface="Segoe UI"/>
              </a:rPr>
              <a:t>CAD @ 1.36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9672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5E6A7A"/>
                </a:solidFill>
                <a:latin typeface="Segoe UI"/>
              </a:rPr>
              <a:t>The WESTMILL Way  —  "We've got your back."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0" y="6519672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5E6A7A"/>
                </a:solidFill>
                <a:latin typeface="Segoe UI"/>
              </a:rPr>
              <a:t>Westmill Industries Ltd. · Board Review · July 2026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502920" y="1371600"/>
          <a:ext cx="4297680" cy="28346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029200" y="1371600"/>
          <a:ext cx="6656829" cy="300380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81405"/>
                <a:gridCol w="1218856"/>
                <a:gridCol w="1218856"/>
                <a:gridCol w="1218856"/>
                <a:gridCol w="1218856"/>
              </a:tblGrid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Segoe UI"/>
                        </a:rPr>
                        <a:t>Line (CAD)</a:t>
                      </a:r>
                    </a:p>
                  </a:txBody>
                  <a:tcPr marL="64008" marR="64008" marT="13716" marB="13716" anchor="ctr">
                    <a:solidFill>
                      <a:srgbClr val="1E2B4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1">
                          <a:solidFill>
                            <a:srgbClr val="FFFFFF"/>
                          </a:solidFill>
                          <a:latin typeface="Segoe UI"/>
                        </a:rPr>
                        <a:t>Downside</a:t>
                      </a:r>
                    </a:p>
                  </a:txBody>
                  <a:tcPr marL="64008" marR="64008" marT="13716" marB="13716" anchor="ctr">
                    <a:solidFill>
                      <a:srgbClr val="1E2B4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1">
                          <a:solidFill>
                            <a:srgbClr val="FFFFFF"/>
                          </a:solidFill>
                          <a:latin typeface="Segoe UI"/>
                        </a:rPr>
                        <a:t>Target</a:t>
                      </a:r>
                    </a:p>
                  </a:txBody>
                  <a:tcPr marL="64008" marR="64008" marT="13716" marB="13716" anchor="ctr">
                    <a:solidFill>
                      <a:srgbClr val="1E2B4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1">
                          <a:solidFill>
                            <a:srgbClr val="FFFFFF"/>
                          </a:solidFill>
                          <a:latin typeface="Segoe UI"/>
                        </a:rPr>
                        <a:t>Upside</a:t>
                      </a:r>
                    </a:p>
                  </a:txBody>
                  <a:tcPr marL="64008" marR="64008" marT="13716" marB="13716" anchor="ctr">
                    <a:solidFill>
                      <a:srgbClr val="1E2B4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1">
                          <a:solidFill>
                            <a:srgbClr val="FFFFFF"/>
                          </a:solidFill>
                          <a:latin typeface="Segoe UI"/>
                        </a:rPr>
                        <a:t>Blue Sky</a:t>
                      </a:r>
                    </a:p>
                  </a:txBody>
                  <a:tcPr marL="64008" marR="64008" marT="13716" marB="13716" anchor="ctr">
                    <a:solidFill>
                      <a:srgbClr val="1E2B4D"/>
                    </a:solidFill>
                  </a:tcPr>
                </a:tc>
              </a:tr>
              <a:tr h="29718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2833"/>
                          </a:solidFill>
                          <a:latin typeface="Segoe UI"/>
                        </a:rPr>
                        <a:t>Parts revenue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22833"/>
                          </a:solidFill>
                          <a:latin typeface="Segoe UI"/>
                        </a:rPr>
                        <a:t>4,872,789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22833"/>
                          </a:solidFill>
                          <a:latin typeface="Segoe UI"/>
                        </a:rPr>
                        <a:t>5,580,327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22833"/>
                          </a:solidFill>
                          <a:latin typeface="Segoe UI"/>
                        </a:rPr>
                        <a:t>5,580,327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22833"/>
                          </a:solidFill>
                          <a:latin typeface="Segoe UI"/>
                        </a:rPr>
                        <a:t>6,102,047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</a:tr>
              <a:tr h="29718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2833"/>
                          </a:solidFill>
                          <a:latin typeface="Segoe UI"/>
                        </a:rPr>
                        <a:t>Capital revenue</a:t>
                      </a:r>
                    </a:p>
                  </a:txBody>
                  <a:tcPr marL="64008" marR="64008" marT="13716" marB="13716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22833"/>
                          </a:solidFill>
                          <a:latin typeface="Segoe UI"/>
                        </a:rPr>
                        <a:t>4,685,951</a:t>
                      </a:r>
                    </a:p>
                  </a:txBody>
                  <a:tcPr marL="64008" marR="64008" marT="13716" marB="13716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22833"/>
                          </a:solidFill>
                          <a:latin typeface="Segoe UI"/>
                        </a:rPr>
                        <a:t>13,282,089</a:t>
                      </a:r>
                    </a:p>
                  </a:txBody>
                  <a:tcPr marL="64008" marR="64008" marT="13716" marB="13716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22833"/>
                          </a:solidFill>
                          <a:latin typeface="Segoe UI"/>
                        </a:rPr>
                        <a:t>15,312,393</a:t>
                      </a:r>
                    </a:p>
                  </a:txBody>
                  <a:tcPr marL="64008" marR="64008" marT="13716" marB="13716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22833"/>
                          </a:solidFill>
                          <a:latin typeface="Segoe UI"/>
                        </a:rPr>
                        <a:t>22,406,451</a:t>
                      </a:r>
                    </a:p>
                  </a:txBody>
                  <a:tcPr marL="64008" marR="64008" marT="13716" marB="13716" anchor="ctr">
                    <a:solidFill>
                      <a:srgbClr val="F5F7FA"/>
                    </a:solidFill>
                  </a:tcPr>
                </a:tc>
              </a:tr>
              <a:tr h="29718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222833"/>
                          </a:solidFill>
                          <a:latin typeface="Segoe UI"/>
                        </a:rPr>
                        <a:t>Total revenue</a:t>
                      </a:r>
                    </a:p>
                  </a:txBody>
                  <a:tcPr marL="64008" marR="64008" marT="13716" marB="13716" anchor="ctr">
                    <a:solidFill>
                      <a:srgbClr val="E8EF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222833"/>
                          </a:solidFill>
                          <a:latin typeface="Segoe UI"/>
                        </a:rPr>
                        <a:t>9,558,740</a:t>
                      </a:r>
                    </a:p>
                  </a:txBody>
                  <a:tcPr marL="64008" marR="64008" marT="13716" marB="13716" anchor="ctr">
                    <a:solidFill>
                      <a:srgbClr val="E8EF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222833"/>
                          </a:solidFill>
                          <a:latin typeface="Segoe UI"/>
                        </a:rPr>
                        <a:t>18,862,417</a:t>
                      </a:r>
                    </a:p>
                  </a:txBody>
                  <a:tcPr marL="64008" marR="64008" marT="13716" marB="13716" anchor="ctr">
                    <a:solidFill>
                      <a:srgbClr val="E8EF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222833"/>
                          </a:solidFill>
                          <a:latin typeface="Segoe UI"/>
                        </a:rPr>
                        <a:t>20,892,720</a:t>
                      </a:r>
                    </a:p>
                  </a:txBody>
                  <a:tcPr marL="64008" marR="64008" marT="13716" marB="13716" anchor="ctr">
                    <a:solidFill>
                      <a:srgbClr val="E8EF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222833"/>
                          </a:solidFill>
                          <a:latin typeface="Segoe UI"/>
                        </a:rPr>
                        <a:t>28,508,498</a:t>
                      </a:r>
                    </a:p>
                  </a:txBody>
                  <a:tcPr marL="64008" marR="64008" marT="13716" marB="13716" anchor="ctr">
                    <a:solidFill>
                      <a:srgbClr val="E8EFF8"/>
                    </a:solidFill>
                  </a:tcPr>
                </a:tc>
              </a:tr>
              <a:tr h="29718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2833"/>
                          </a:solidFill>
                          <a:latin typeface="Segoe UI"/>
                        </a:rPr>
                        <a:t>Total COGS</a:t>
                      </a:r>
                    </a:p>
                  </a:txBody>
                  <a:tcPr marL="64008" marR="64008" marT="13716" marB="13716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22833"/>
                          </a:solidFill>
                          <a:latin typeface="Segoe UI"/>
                        </a:rPr>
                        <a:t>5,402,891</a:t>
                      </a:r>
                    </a:p>
                  </a:txBody>
                  <a:tcPr marL="64008" marR="64008" marT="13716" marB="13716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22833"/>
                          </a:solidFill>
                          <a:latin typeface="Segoe UI"/>
                        </a:rPr>
                        <a:t>10,880,519</a:t>
                      </a:r>
                    </a:p>
                  </a:txBody>
                  <a:tcPr marL="64008" marR="64008" marT="13716" marB="13716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22833"/>
                          </a:solidFill>
                          <a:latin typeface="Segoe UI"/>
                        </a:rPr>
                        <a:t>12,661,955</a:t>
                      </a:r>
                    </a:p>
                  </a:txBody>
                  <a:tcPr marL="64008" marR="64008" marT="13716" marB="13716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22833"/>
                          </a:solidFill>
                          <a:latin typeface="Segoe UI"/>
                        </a:rPr>
                        <a:t>16,576,344</a:t>
                      </a:r>
                    </a:p>
                  </a:txBody>
                  <a:tcPr marL="64008" marR="64008" marT="13716" marB="13716" anchor="ctr">
                    <a:solidFill>
                      <a:srgbClr val="F5F7FA"/>
                    </a:solidFill>
                  </a:tcPr>
                </a:tc>
              </a:tr>
              <a:tr h="29718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222833"/>
                          </a:solidFill>
                          <a:latin typeface="Segoe UI"/>
                        </a:rPr>
                        <a:t>Gross profit</a:t>
                      </a:r>
                    </a:p>
                  </a:txBody>
                  <a:tcPr marL="64008" marR="64008" marT="13716" marB="13716" anchor="ctr">
                    <a:solidFill>
                      <a:srgbClr val="E8EF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222833"/>
                          </a:solidFill>
                          <a:latin typeface="Segoe UI"/>
                        </a:rPr>
                        <a:t>4,155,849</a:t>
                      </a:r>
                    </a:p>
                  </a:txBody>
                  <a:tcPr marL="64008" marR="64008" marT="13716" marB="13716" anchor="ctr">
                    <a:solidFill>
                      <a:srgbClr val="E8EF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222833"/>
                          </a:solidFill>
                          <a:latin typeface="Segoe UI"/>
                        </a:rPr>
                        <a:t>7,981,898</a:t>
                      </a:r>
                    </a:p>
                  </a:txBody>
                  <a:tcPr marL="64008" marR="64008" marT="13716" marB="13716" anchor="ctr">
                    <a:solidFill>
                      <a:srgbClr val="E8EF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222833"/>
                          </a:solidFill>
                          <a:latin typeface="Segoe UI"/>
                        </a:rPr>
                        <a:t>8,230,766</a:t>
                      </a:r>
                    </a:p>
                  </a:txBody>
                  <a:tcPr marL="64008" marR="64008" marT="13716" marB="13716" anchor="ctr">
                    <a:solidFill>
                      <a:srgbClr val="E8EF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222833"/>
                          </a:solidFill>
                          <a:latin typeface="Segoe UI"/>
                        </a:rPr>
                        <a:t>11,932,154</a:t>
                      </a:r>
                    </a:p>
                  </a:txBody>
                  <a:tcPr marL="64008" marR="64008" marT="13716" marB="13716" anchor="ctr">
                    <a:solidFill>
                      <a:srgbClr val="E8EFF8"/>
                    </a:solidFill>
                  </a:tcPr>
                </a:tc>
              </a:tr>
              <a:tr h="29718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2833"/>
                          </a:solidFill>
                          <a:latin typeface="Segoe UI"/>
                        </a:rPr>
                        <a:t>Gross margin %</a:t>
                      </a:r>
                    </a:p>
                  </a:txBody>
                  <a:tcPr marL="64008" marR="64008" marT="13716" marB="13716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22833"/>
                          </a:solidFill>
                          <a:latin typeface="Segoe UI"/>
                        </a:rPr>
                        <a:t>43%</a:t>
                      </a:r>
                    </a:p>
                  </a:txBody>
                  <a:tcPr marL="64008" marR="64008" marT="13716" marB="13716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22833"/>
                          </a:solidFill>
                          <a:latin typeface="Segoe UI"/>
                        </a:rPr>
                        <a:t>42%</a:t>
                      </a:r>
                    </a:p>
                  </a:txBody>
                  <a:tcPr marL="64008" marR="64008" marT="13716" marB="13716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22833"/>
                          </a:solidFill>
                          <a:latin typeface="Segoe UI"/>
                        </a:rPr>
                        <a:t>39%</a:t>
                      </a:r>
                    </a:p>
                  </a:txBody>
                  <a:tcPr marL="64008" marR="64008" marT="13716" marB="13716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22833"/>
                          </a:solidFill>
                          <a:latin typeface="Segoe UI"/>
                        </a:rPr>
                        <a:t>42%</a:t>
                      </a:r>
                    </a:p>
                  </a:txBody>
                  <a:tcPr marL="64008" marR="64008" marT="13716" marB="13716" anchor="ctr">
                    <a:solidFill>
                      <a:srgbClr val="F5F7FA"/>
                    </a:solidFill>
                  </a:tcPr>
                </a:tc>
              </a:tr>
              <a:tr h="29718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2833"/>
                          </a:solidFill>
                          <a:latin typeface="Segoe UI"/>
                        </a:rPr>
                        <a:t>Core OPEX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22833"/>
                          </a:solidFill>
                          <a:latin typeface="Segoe UI"/>
                        </a:rPr>
                        <a:t>3,713,098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22833"/>
                          </a:solidFill>
                          <a:latin typeface="Segoe UI"/>
                        </a:rPr>
                        <a:t>3,713,098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22833"/>
                          </a:solidFill>
                          <a:latin typeface="Segoe UI"/>
                        </a:rPr>
                        <a:t>3,713,098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22833"/>
                          </a:solidFill>
                          <a:latin typeface="Segoe UI"/>
                        </a:rPr>
                        <a:t>3,713,098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</a:tr>
              <a:tr h="29718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222833"/>
                          </a:solidFill>
                          <a:latin typeface="Segoe UI"/>
                        </a:rPr>
                        <a:t>EBIT</a:t>
                      </a:r>
                    </a:p>
                  </a:txBody>
                  <a:tcPr marL="64008" marR="64008" marT="13716" marB="13716" anchor="ctr">
                    <a:solidFill>
                      <a:srgbClr val="E8EF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222833"/>
                          </a:solidFill>
                          <a:latin typeface="Segoe UI"/>
                        </a:rPr>
                        <a:t>442,751</a:t>
                      </a:r>
                    </a:p>
                  </a:txBody>
                  <a:tcPr marL="64008" marR="64008" marT="13716" marB="13716" anchor="ctr">
                    <a:solidFill>
                      <a:srgbClr val="E8EF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222833"/>
                          </a:solidFill>
                          <a:latin typeface="Segoe UI"/>
                        </a:rPr>
                        <a:t>4,268,800</a:t>
                      </a:r>
                    </a:p>
                  </a:txBody>
                  <a:tcPr marL="64008" marR="64008" marT="13716" marB="13716" anchor="ctr">
                    <a:solidFill>
                      <a:srgbClr val="E8EF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222833"/>
                          </a:solidFill>
                          <a:latin typeface="Segoe UI"/>
                        </a:rPr>
                        <a:t>4,517,668</a:t>
                      </a:r>
                    </a:p>
                  </a:txBody>
                  <a:tcPr marL="64008" marR="64008" marT="13716" marB="13716" anchor="ctr">
                    <a:solidFill>
                      <a:srgbClr val="E8EF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222833"/>
                          </a:solidFill>
                          <a:latin typeface="Segoe UI"/>
                        </a:rPr>
                        <a:t>8,219,056</a:t>
                      </a:r>
                    </a:p>
                  </a:txBody>
                  <a:tcPr marL="64008" marR="64008" marT="13716" marB="13716" anchor="ctr">
                    <a:solidFill>
                      <a:srgbClr val="E8EFF8"/>
                    </a:solidFill>
                  </a:tcPr>
                </a:tc>
              </a:tr>
              <a:tr h="29718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2833"/>
                          </a:solidFill>
                          <a:latin typeface="Segoe UI"/>
                        </a:rPr>
                        <a:t>EBIT %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22833"/>
                          </a:solidFill>
                          <a:latin typeface="Segoe UI"/>
                        </a:rPr>
                        <a:t>5%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22833"/>
                          </a:solidFill>
                          <a:latin typeface="Segoe UI"/>
                        </a:rPr>
                        <a:t>23%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22833"/>
                          </a:solidFill>
                          <a:latin typeface="Segoe UI"/>
                        </a:rPr>
                        <a:t>22%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22833"/>
                          </a:solidFill>
                          <a:latin typeface="Segoe UI"/>
                        </a:rPr>
                        <a:t>29%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02920" y="4434840"/>
            <a:ext cx="4297680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1E2B4D"/>
                </a:solidFill>
                <a:latin typeface="Segoe UI"/>
              </a:rPr>
              <a:t>Scenario logic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222833"/>
                </a:solidFill>
                <a:latin typeface="Segoe UI"/>
              </a:rPr>
              <a:t>•  Downside: contracted backbone only + $1.5M small projects — EBIT still positive at $0.44M.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222833"/>
                </a:solidFill>
                <a:latin typeface="Segoe UI"/>
              </a:rPr>
              <a:t>•  Target: Blue Ridge $8.09M, Tolko deferred, $2.0M small projects.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222833"/>
                </a:solidFill>
                <a:latin typeface="Segoe UI"/>
              </a:rPr>
              <a:t>•  Upside: awards land Q1–Q2 FY27.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222833"/>
                </a:solidFill>
                <a:latin typeface="Segoe UI"/>
              </a:rPr>
              <a:t>•  Blue Sky: Blue Ridge full scope + Tolko + $3.0M small projects.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1E2B4D"/>
                </a:solidFill>
                <a:latin typeface="Segoe UI"/>
              </a:rPr>
              <a:t>Core OPEX is held flat at $3.71M across all four cases.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2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18872"/>
            <a:ext cx="8778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9FC0EE"/>
                </a:solidFill>
                <a:latin typeface="Segoe UI"/>
              </a:rPr>
              <a:t>FY27 BUDGET · CAPITAL BOOK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47472"/>
            <a:ext cx="89611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300" b="1">
                <a:solidFill>
                  <a:srgbClr val="FFFFFF"/>
                </a:solidFill>
                <a:latin typeface="Segoe UI"/>
              </a:rPr>
              <a:t>Capital Projects — Scenario 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95360" y="118872"/>
            <a:ext cx="310896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9FC0EE"/>
                </a:solidFill>
                <a:latin typeface="Segoe UI"/>
              </a:rPr>
              <a:t>CAD @ 1.36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9672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5E6A7A"/>
                </a:solidFill>
                <a:latin typeface="Segoe UI"/>
              </a:rPr>
              <a:t>The WESTMILL Way  —  "We've got your back."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0" y="6519672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5E6A7A"/>
                </a:solidFill>
                <a:latin typeface="Segoe UI"/>
              </a:rPr>
              <a:t>Westmill Industries Ltd. · Board Review · July 2026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325880"/>
          <a:ext cx="11183110" cy="382219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240042"/>
                <a:gridCol w="1219012"/>
                <a:gridCol w="1431014"/>
                <a:gridCol w="1431014"/>
                <a:gridCol w="1431014"/>
                <a:gridCol w="1431014"/>
              </a:tblGrid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Segoe UI"/>
                        </a:rPr>
                        <a:t>Project</a:t>
                      </a:r>
                    </a:p>
                  </a:txBody>
                  <a:tcPr marL="64008" marR="64008" marT="13716" marB="13716" anchor="ctr">
                    <a:solidFill>
                      <a:srgbClr val="1E2B4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Segoe UI"/>
                        </a:rPr>
                        <a:t>Type</a:t>
                      </a:r>
                    </a:p>
                  </a:txBody>
                  <a:tcPr marL="64008" marR="64008" marT="13716" marB="13716" anchor="ctr">
                    <a:solidFill>
                      <a:srgbClr val="1E2B4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FFFFFF"/>
                          </a:solidFill>
                          <a:latin typeface="Segoe UI"/>
                        </a:rPr>
                        <a:t>Downside</a:t>
                      </a:r>
                    </a:p>
                  </a:txBody>
                  <a:tcPr marL="64008" marR="64008" marT="13716" marB="13716" anchor="ctr">
                    <a:solidFill>
                      <a:srgbClr val="1E2B4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FFFFFF"/>
                          </a:solidFill>
                          <a:latin typeface="Segoe UI"/>
                        </a:rPr>
                        <a:t>Target</a:t>
                      </a:r>
                    </a:p>
                  </a:txBody>
                  <a:tcPr marL="64008" marR="64008" marT="13716" marB="13716" anchor="ctr">
                    <a:solidFill>
                      <a:srgbClr val="1E2B4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FFFFFF"/>
                          </a:solidFill>
                          <a:latin typeface="Segoe UI"/>
                        </a:rPr>
                        <a:t>Upside</a:t>
                      </a:r>
                    </a:p>
                  </a:txBody>
                  <a:tcPr marL="64008" marR="64008" marT="13716" marB="13716" anchor="ctr">
                    <a:solidFill>
                      <a:srgbClr val="1E2B4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FFFFFF"/>
                          </a:solidFill>
                          <a:latin typeface="Segoe UI"/>
                        </a:rPr>
                        <a:t>Blue Sky</a:t>
                      </a:r>
                    </a:p>
                  </a:txBody>
                  <a:tcPr marL="64008" marR="64008" marT="13716" marB="13716" anchor="ctr">
                    <a:solidFill>
                      <a:srgbClr val="1E2B4D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22833"/>
                          </a:solidFill>
                          <a:latin typeface="Segoe UI"/>
                        </a:rPr>
                        <a:t>Armstrong World Industries — Marietta (USA)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22833"/>
                          </a:solidFill>
                          <a:latin typeface="Segoe UI"/>
                        </a:rPr>
                        <a:t>Contracted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222833"/>
                          </a:solidFill>
                          <a:latin typeface="Segoe UI"/>
                        </a:rPr>
                        <a:t>$353,658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222833"/>
                          </a:solidFill>
                          <a:latin typeface="Segoe UI"/>
                        </a:rPr>
                        <a:t>$353,658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222833"/>
                          </a:solidFill>
                          <a:latin typeface="Segoe UI"/>
                        </a:rPr>
                        <a:t>$353,658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222833"/>
                          </a:solidFill>
                          <a:latin typeface="Segoe UI"/>
                        </a:rPr>
                        <a:t>$353,658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22833"/>
                          </a:solidFill>
                          <a:latin typeface="Segoe UI"/>
                        </a:rPr>
                        <a:t>Boise Cascade — Chapman (USA)</a:t>
                      </a:r>
                    </a:p>
                  </a:txBody>
                  <a:tcPr marL="64008" marR="64008" marT="13716" marB="13716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22833"/>
                          </a:solidFill>
                          <a:latin typeface="Segoe UI"/>
                        </a:rPr>
                        <a:t>Contracted</a:t>
                      </a:r>
                    </a:p>
                  </a:txBody>
                  <a:tcPr marL="64008" marR="64008" marT="13716" marB="13716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222833"/>
                          </a:solidFill>
                          <a:latin typeface="Segoe UI"/>
                        </a:rPr>
                        <a:t>$713,555</a:t>
                      </a:r>
                    </a:p>
                  </a:txBody>
                  <a:tcPr marL="64008" marR="64008" marT="13716" marB="13716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222833"/>
                          </a:solidFill>
                          <a:latin typeface="Segoe UI"/>
                        </a:rPr>
                        <a:t>$713,555</a:t>
                      </a:r>
                    </a:p>
                  </a:txBody>
                  <a:tcPr marL="64008" marR="64008" marT="13716" marB="13716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222833"/>
                          </a:solidFill>
                          <a:latin typeface="Segoe UI"/>
                        </a:rPr>
                        <a:t>$713,555</a:t>
                      </a:r>
                    </a:p>
                  </a:txBody>
                  <a:tcPr marL="64008" marR="64008" marT="13716" marB="13716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222833"/>
                          </a:solidFill>
                          <a:latin typeface="Segoe UI"/>
                        </a:rPr>
                        <a:t>$713,555</a:t>
                      </a:r>
                    </a:p>
                  </a:txBody>
                  <a:tcPr marL="64008" marR="64008" marT="13716" marB="13716" anchor="ctr">
                    <a:solidFill>
                      <a:srgbClr val="F5F7FA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22833"/>
                          </a:solidFill>
                          <a:latin typeface="Segoe UI"/>
                        </a:rPr>
                        <a:t>Gold Bond — Fort Dodge (USA)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22833"/>
                          </a:solidFill>
                          <a:latin typeface="Segoe UI"/>
                        </a:rPr>
                        <a:t>Contracted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222833"/>
                          </a:solidFill>
                          <a:latin typeface="Segoe UI"/>
                        </a:rPr>
                        <a:t>$144,610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222833"/>
                          </a:solidFill>
                          <a:latin typeface="Segoe UI"/>
                        </a:rPr>
                        <a:t>$144,610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222833"/>
                          </a:solidFill>
                          <a:latin typeface="Segoe UI"/>
                        </a:rPr>
                        <a:t>$144,610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222833"/>
                          </a:solidFill>
                          <a:latin typeface="Segoe UI"/>
                        </a:rPr>
                        <a:t>$144,610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22833"/>
                          </a:solidFill>
                          <a:latin typeface="Segoe UI"/>
                        </a:rPr>
                        <a:t>Weyerhaeuser — Buckhannon (USA)</a:t>
                      </a:r>
                    </a:p>
                  </a:txBody>
                  <a:tcPr marL="64008" marR="64008" marT="13716" marB="13716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22833"/>
                          </a:solidFill>
                          <a:latin typeface="Segoe UI"/>
                        </a:rPr>
                        <a:t>Contracted</a:t>
                      </a:r>
                    </a:p>
                  </a:txBody>
                  <a:tcPr marL="64008" marR="64008" marT="13716" marB="13716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222833"/>
                          </a:solidFill>
                          <a:latin typeface="Segoe UI"/>
                        </a:rPr>
                        <a:t>$435,110</a:t>
                      </a:r>
                    </a:p>
                  </a:txBody>
                  <a:tcPr marL="64008" marR="64008" marT="13716" marB="13716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222833"/>
                          </a:solidFill>
                          <a:latin typeface="Segoe UI"/>
                        </a:rPr>
                        <a:t>$435,110</a:t>
                      </a:r>
                    </a:p>
                  </a:txBody>
                  <a:tcPr marL="64008" marR="64008" marT="13716" marB="13716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222833"/>
                          </a:solidFill>
                          <a:latin typeface="Segoe UI"/>
                        </a:rPr>
                        <a:t>$435,110</a:t>
                      </a:r>
                    </a:p>
                  </a:txBody>
                  <a:tcPr marL="64008" marR="64008" marT="13716" marB="13716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222833"/>
                          </a:solidFill>
                          <a:latin typeface="Segoe UI"/>
                        </a:rPr>
                        <a:t>$435,110</a:t>
                      </a:r>
                    </a:p>
                  </a:txBody>
                  <a:tcPr marL="64008" marR="64008" marT="13716" marB="13716" anchor="ctr">
                    <a:solidFill>
                      <a:srgbClr val="F5F7FA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22833"/>
                          </a:solidFill>
                          <a:latin typeface="Segoe UI"/>
                        </a:rPr>
                        <a:t>States Industries (USA)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22833"/>
                          </a:solidFill>
                          <a:latin typeface="Segoe UI"/>
                        </a:rPr>
                        <a:t>Contracted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222833"/>
                          </a:solidFill>
                          <a:latin typeface="Segoe UI"/>
                        </a:rPr>
                        <a:t>$565,572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222833"/>
                          </a:solidFill>
                          <a:latin typeface="Segoe UI"/>
                        </a:rPr>
                        <a:t>$565,572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222833"/>
                          </a:solidFill>
                          <a:latin typeface="Segoe UI"/>
                        </a:rPr>
                        <a:t>$565,572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222833"/>
                          </a:solidFill>
                          <a:latin typeface="Segoe UI"/>
                        </a:rPr>
                        <a:t>$565,572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22833"/>
                          </a:solidFill>
                          <a:latin typeface="Segoe UI"/>
                        </a:rPr>
                        <a:t>Blue Ridge Fiberboard — Danville VA (Engineering)</a:t>
                      </a:r>
                    </a:p>
                  </a:txBody>
                  <a:tcPr marL="64008" marR="64008" marT="13716" marB="13716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22833"/>
                          </a:solidFill>
                          <a:latin typeface="Segoe UI"/>
                        </a:rPr>
                        <a:t>Contracted</a:t>
                      </a:r>
                    </a:p>
                  </a:txBody>
                  <a:tcPr marL="64008" marR="64008" marT="13716" marB="13716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222833"/>
                          </a:solidFill>
                          <a:latin typeface="Segoe UI"/>
                        </a:rPr>
                        <a:t>$943,500</a:t>
                      </a:r>
                    </a:p>
                  </a:txBody>
                  <a:tcPr marL="64008" marR="64008" marT="13716" marB="13716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222833"/>
                          </a:solidFill>
                          <a:latin typeface="Segoe UI"/>
                        </a:rPr>
                        <a:t>$943,500</a:t>
                      </a:r>
                    </a:p>
                  </a:txBody>
                  <a:tcPr marL="64008" marR="64008" marT="13716" marB="13716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222833"/>
                          </a:solidFill>
                          <a:latin typeface="Segoe UI"/>
                        </a:rPr>
                        <a:t>$943,500</a:t>
                      </a:r>
                    </a:p>
                  </a:txBody>
                  <a:tcPr marL="64008" marR="64008" marT="13716" marB="13716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222833"/>
                          </a:solidFill>
                          <a:latin typeface="Segoe UI"/>
                        </a:rPr>
                        <a:t>$943,500</a:t>
                      </a:r>
                    </a:p>
                  </a:txBody>
                  <a:tcPr marL="64008" marR="64008" marT="13716" marB="13716" anchor="ctr">
                    <a:solidFill>
                      <a:srgbClr val="F5F7FA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22833"/>
                          </a:solidFill>
                          <a:latin typeface="Segoe UI"/>
                        </a:rPr>
                        <a:t>Blue Ridge Fiberboard — Danville VA (Manufacturing)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22833"/>
                          </a:solidFill>
                          <a:latin typeface="Segoe UI"/>
                        </a:rPr>
                        <a:t>Negotiation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222833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222833"/>
                          </a:solidFill>
                          <a:latin typeface="Segoe UI"/>
                        </a:rPr>
                        <a:t>$8,092,000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222833"/>
                          </a:solidFill>
                          <a:latin typeface="Segoe UI"/>
                        </a:rPr>
                        <a:t>$6,074,667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222833"/>
                          </a:solidFill>
                          <a:latin typeface="Segoe UI"/>
                        </a:rPr>
                        <a:t>$9,248,000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22833"/>
                          </a:solidFill>
                          <a:latin typeface="Segoe UI"/>
                        </a:rPr>
                        <a:t>Tolko 6-Deck Dryer (Q2510-682)</a:t>
                      </a:r>
                    </a:p>
                  </a:txBody>
                  <a:tcPr marL="64008" marR="64008" marT="13716" marB="13716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22833"/>
                          </a:solidFill>
                          <a:latin typeface="Segoe UI"/>
                        </a:rPr>
                        <a:t>Quoted</a:t>
                      </a:r>
                    </a:p>
                  </a:txBody>
                  <a:tcPr marL="64008" marR="64008" marT="13716" marB="13716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222833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marL="64008" marR="64008" marT="13716" marB="13716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222833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marL="64008" marR="64008" marT="13716" marB="13716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222833"/>
                          </a:solidFill>
                          <a:latin typeface="Segoe UI"/>
                        </a:rPr>
                        <a:t>$3,960,000</a:t>
                      </a:r>
                    </a:p>
                  </a:txBody>
                  <a:tcPr marL="64008" marR="64008" marT="13716" marB="13716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222833"/>
                          </a:solidFill>
                          <a:latin typeface="Segoe UI"/>
                        </a:rPr>
                        <a:t>$6,800,000</a:t>
                      </a:r>
                    </a:p>
                  </a:txBody>
                  <a:tcPr marL="64008" marR="64008" marT="13716" marB="13716" anchor="ctr">
                    <a:solidFill>
                      <a:srgbClr val="F5F7FA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22833"/>
                          </a:solidFill>
                          <a:latin typeface="Segoe UI"/>
                        </a:rPr>
                        <a:t>Other small projects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22833"/>
                          </a:solidFill>
                          <a:latin typeface="Segoe UI"/>
                        </a:rPr>
                        <a:t>Quoted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222833"/>
                          </a:solidFill>
                          <a:latin typeface="Segoe UI"/>
                        </a:rPr>
                        <a:t>$1,500,000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222833"/>
                          </a:solidFill>
                          <a:latin typeface="Segoe UI"/>
                        </a:rPr>
                        <a:t>$2,000,000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222833"/>
                          </a:solidFill>
                          <a:latin typeface="Segoe UI"/>
                        </a:rPr>
                        <a:t>$2,000,000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222833"/>
                          </a:solidFill>
                          <a:latin typeface="Segoe UI"/>
                        </a:rPr>
                        <a:t>$3,000,000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222833"/>
                          </a:solidFill>
                          <a:latin typeface="Segoe UI"/>
                        </a:rPr>
                        <a:t>Total capital revenue</a:t>
                      </a:r>
                    </a:p>
                  </a:txBody>
                  <a:tcPr marL="64008" marR="64008" marT="13716" marB="13716" anchor="ctr">
                    <a:solidFill>
                      <a:srgbClr val="E8EF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222833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64008" marR="64008" marT="13716" marB="13716" anchor="ctr">
                    <a:solidFill>
                      <a:srgbClr val="E8EF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222833"/>
                          </a:solidFill>
                          <a:latin typeface="Segoe UI"/>
                        </a:rPr>
                        <a:t>$4,685,951</a:t>
                      </a:r>
                    </a:p>
                  </a:txBody>
                  <a:tcPr marL="64008" marR="64008" marT="13716" marB="13716" anchor="ctr">
                    <a:solidFill>
                      <a:srgbClr val="E8EF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222833"/>
                          </a:solidFill>
                          <a:latin typeface="Segoe UI"/>
                        </a:rPr>
                        <a:t>$13,282,089</a:t>
                      </a:r>
                    </a:p>
                  </a:txBody>
                  <a:tcPr marL="64008" marR="64008" marT="13716" marB="13716" anchor="ctr">
                    <a:solidFill>
                      <a:srgbClr val="E8EF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222833"/>
                          </a:solidFill>
                          <a:latin typeface="Segoe UI"/>
                        </a:rPr>
                        <a:t>$15,312,393</a:t>
                      </a:r>
                    </a:p>
                  </a:txBody>
                  <a:tcPr marL="64008" marR="64008" marT="13716" marB="13716" anchor="ctr">
                    <a:solidFill>
                      <a:srgbClr val="E8EF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222833"/>
                          </a:solidFill>
                          <a:latin typeface="Segoe UI"/>
                        </a:rPr>
                        <a:t>$22,406,451</a:t>
                      </a:r>
                    </a:p>
                  </a:txBody>
                  <a:tcPr marL="64008" marR="64008" marT="13716" marB="13716" anchor="ctr">
                    <a:solidFill>
                      <a:srgbClr val="E8EFF8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02920" y="5257800"/>
            <a:ext cx="11183112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222833"/>
                </a:solidFill>
                <a:latin typeface="Segoe UI"/>
              </a:rPr>
              <a:t>•  ~$3.2M of contracted backbone is common to every scenario; the swing factors are Blue Ridge manufacturing scope, the Tolko award, and small-project volume.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5E6A7A"/>
                </a:solidFill>
                <a:latin typeface="Segoe UI"/>
              </a:rPr>
              <a:t>•  Editable model rows (Blue Ridge Mfg — USD at 1.36, Tolko, small projects) shown at budget assumptions; scenario totals come from the live budget model, so minor FX/rounding differences vs the sum of rows are expected.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2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18872"/>
            <a:ext cx="8778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9FC0EE"/>
                </a:solidFill>
                <a:latin typeface="Segoe UI"/>
              </a:rPr>
              <a:t>FY27 BUDGET · OPEX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47472"/>
            <a:ext cx="89611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300" b="1">
                <a:solidFill>
                  <a:srgbClr val="FFFFFF"/>
                </a:solidFill>
                <a:latin typeface="Segoe UI"/>
              </a:rPr>
              <a:t>OPEX — Management View Breakdown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95360" y="118872"/>
            <a:ext cx="310896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9FC0EE"/>
                </a:solidFill>
                <a:latin typeface="Segoe UI"/>
              </a:rPr>
              <a:t>Target · $3.71M · 20% of revenue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9672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5E6A7A"/>
                </a:solidFill>
                <a:latin typeface="Segoe UI"/>
              </a:rPr>
              <a:t>The WESTMILL Way  —  "We've got your back."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0" y="6519672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5E6A7A"/>
                </a:solidFill>
                <a:latin typeface="Segoe UI"/>
              </a:rPr>
              <a:t>Westmill Industries Ltd. · Board Review · July 2026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365760" y="1325880"/>
          <a:ext cx="6309360" cy="44805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858000" y="1325880"/>
          <a:ext cx="4828031" cy="362102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50684"/>
                <a:gridCol w="1278008"/>
                <a:gridCol w="899339"/>
              </a:tblGrid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Segoe UI"/>
                        </a:rPr>
                        <a:t>Management-view category</a:t>
                      </a:r>
                    </a:p>
                  </a:txBody>
                  <a:tcPr marL="64008" marR="64008" marT="13716" marB="13716" anchor="ctr">
                    <a:solidFill>
                      <a:srgbClr val="1E2B4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1">
                          <a:solidFill>
                            <a:srgbClr val="FFFFFF"/>
                          </a:solidFill>
                          <a:latin typeface="Segoe UI"/>
                        </a:rPr>
                        <a:t>FY27 Target</a:t>
                      </a:r>
                    </a:p>
                  </a:txBody>
                  <a:tcPr marL="64008" marR="64008" marT="13716" marB="13716" anchor="ctr">
                    <a:solidFill>
                      <a:srgbClr val="1E2B4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1">
                          <a:solidFill>
                            <a:srgbClr val="FFFFFF"/>
                          </a:solidFill>
                          <a:latin typeface="Segoe UI"/>
                        </a:rPr>
                        <a:t>% of OPEX</a:t>
                      </a:r>
                    </a:p>
                  </a:txBody>
                  <a:tcPr marL="64008" marR="64008" marT="13716" marB="13716" anchor="ctr">
                    <a:solidFill>
                      <a:srgbClr val="1E2B4D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2833"/>
                          </a:solidFill>
                          <a:latin typeface="Segoe UI"/>
                        </a:rPr>
                        <a:t>People &amp; Benefits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22833"/>
                          </a:solidFill>
                          <a:latin typeface="Segoe UI"/>
                        </a:rPr>
                        <a:t>$2,230,681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22833"/>
                          </a:solidFill>
                          <a:latin typeface="Segoe UI"/>
                        </a:rPr>
                        <a:t>60%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2833"/>
                          </a:solidFill>
                          <a:latin typeface="Segoe UI"/>
                        </a:rPr>
                        <a:t>Facilities &amp; Occupancy</a:t>
                      </a:r>
                    </a:p>
                  </a:txBody>
                  <a:tcPr marL="64008" marR="64008" marT="13716" marB="13716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22833"/>
                          </a:solidFill>
                          <a:latin typeface="Segoe UI"/>
                        </a:rPr>
                        <a:t>$368,033</a:t>
                      </a:r>
                    </a:p>
                  </a:txBody>
                  <a:tcPr marL="64008" marR="64008" marT="13716" marB="13716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22833"/>
                          </a:solidFill>
                          <a:latin typeface="Segoe UI"/>
                        </a:rPr>
                        <a:t>10%</a:t>
                      </a:r>
                    </a:p>
                  </a:txBody>
                  <a:tcPr marL="64008" marR="64008" marT="13716" marB="13716" anchor="ctr">
                    <a:solidFill>
                      <a:srgbClr val="F5F7FA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2833"/>
                          </a:solidFill>
                          <a:latin typeface="Segoe UI"/>
                        </a:rPr>
                        <a:t>IT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22833"/>
                          </a:solidFill>
                          <a:latin typeface="Segoe UI"/>
                        </a:rPr>
                        <a:t>$263,444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22833"/>
                          </a:solidFill>
                          <a:latin typeface="Segoe UI"/>
                        </a:rPr>
                        <a:t>7%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2833"/>
                          </a:solidFill>
                          <a:latin typeface="Segoe UI"/>
                        </a:rPr>
                        <a:t>G&amp;A, Insurance &amp; Amortization</a:t>
                      </a:r>
                    </a:p>
                  </a:txBody>
                  <a:tcPr marL="64008" marR="64008" marT="13716" marB="13716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22833"/>
                          </a:solidFill>
                          <a:latin typeface="Segoe UI"/>
                        </a:rPr>
                        <a:t>$249,310</a:t>
                      </a:r>
                    </a:p>
                  </a:txBody>
                  <a:tcPr marL="64008" marR="64008" marT="13716" marB="13716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22833"/>
                          </a:solidFill>
                          <a:latin typeface="Segoe UI"/>
                        </a:rPr>
                        <a:t>7%</a:t>
                      </a:r>
                    </a:p>
                  </a:txBody>
                  <a:tcPr marL="64008" marR="64008" marT="13716" marB="13716" anchor="ctr">
                    <a:solidFill>
                      <a:srgbClr val="F5F7FA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2833"/>
                          </a:solidFill>
                          <a:latin typeface="Segoe UI"/>
                        </a:rPr>
                        <a:t>Professional Services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22833"/>
                          </a:solidFill>
                          <a:latin typeface="Segoe UI"/>
                        </a:rPr>
                        <a:t>$247,680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22833"/>
                          </a:solidFill>
                          <a:latin typeface="Segoe UI"/>
                        </a:rPr>
                        <a:t>7%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2833"/>
                          </a:solidFill>
                          <a:latin typeface="Segoe UI"/>
                        </a:rPr>
                        <a:t>Travel &amp; Entertainment</a:t>
                      </a:r>
                    </a:p>
                  </a:txBody>
                  <a:tcPr marL="64008" marR="64008" marT="13716" marB="13716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22833"/>
                          </a:solidFill>
                          <a:latin typeface="Segoe UI"/>
                        </a:rPr>
                        <a:t>$149,095</a:t>
                      </a:r>
                    </a:p>
                  </a:txBody>
                  <a:tcPr marL="64008" marR="64008" marT="13716" marB="13716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22833"/>
                          </a:solidFill>
                          <a:latin typeface="Segoe UI"/>
                        </a:rPr>
                        <a:t>4%</a:t>
                      </a:r>
                    </a:p>
                  </a:txBody>
                  <a:tcPr marL="64008" marR="64008" marT="13716" marB="13716" anchor="ctr">
                    <a:solidFill>
                      <a:srgbClr val="F5F7FA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2833"/>
                          </a:solidFill>
                          <a:latin typeface="Segoe UI"/>
                        </a:rPr>
                        <a:t>Sales &amp; Marketing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22833"/>
                          </a:solidFill>
                          <a:latin typeface="Segoe UI"/>
                        </a:rPr>
                        <a:t>$117,354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22833"/>
                          </a:solidFill>
                          <a:latin typeface="Segoe UI"/>
                        </a:rPr>
                        <a:t>3%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2833"/>
                          </a:solidFill>
                          <a:latin typeface="Segoe UI"/>
                        </a:rPr>
                        <a:t>R&amp;D</a:t>
                      </a:r>
                    </a:p>
                  </a:txBody>
                  <a:tcPr marL="64008" marR="64008" marT="13716" marB="13716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22833"/>
                          </a:solidFill>
                          <a:latin typeface="Segoe UI"/>
                        </a:rPr>
                        <a:t>$60,000</a:t>
                      </a:r>
                    </a:p>
                  </a:txBody>
                  <a:tcPr marL="64008" marR="64008" marT="13716" marB="13716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22833"/>
                          </a:solidFill>
                          <a:latin typeface="Segoe UI"/>
                        </a:rPr>
                        <a:t>2%</a:t>
                      </a:r>
                    </a:p>
                  </a:txBody>
                  <a:tcPr marL="64008" marR="64008" marT="13716" marB="13716" anchor="ctr">
                    <a:solidFill>
                      <a:srgbClr val="F5F7FA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2833"/>
                          </a:solidFill>
                          <a:latin typeface="Segoe UI"/>
                        </a:rPr>
                        <a:t>Memberships &amp; Compliance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22833"/>
                          </a:solidFill>
                          <a:latin typeface="Segoe UI"/>
                        </a:rPr>
                        <a:t>$27,501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22833"/>
                          </a:solidFill>
                          <a:latin typeface="Segoe UI"/>
                        </a:rPr>
                        <a:t>1%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222833"/>
                          </a:solidFill>
                          <a:latin typeface="Segoe UI"/>
                        </a:rPr>
                        <a:t>Total core OPEX</a:t>
                      </a:r>
                    </a:p>
                  </a:txBody>
                  <a:tcPr marL="64008" marR="64008" marT="13716" marB="13716" anchor="ctr">
                    <a:solidFill>
                      <a:srgbClr val="E8EF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222833"/>
                          </a:solidFill>
                          <a:latin typeface="Segoe UI"/>
                        </a:rPr>
                        <a:t>$3,713,098</a:t>
                      </a:r>
                    </a:p>
                  </a:txBody>
                  <a:tcPr marL="64008" marR="64008" marT="13716" marB="13716" anchor="ctr">
                    <a:solidFill>
                      <a:srgbClr val="E8EF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222833"/>
                          </a:solidFill>
                          <a:latin typeface="Segoe UI"/>
                        </a:rPr>
                        <a:t>100%</a:t>
                      </a:r>
                    </a:p>
                  </a:txBody>
                  <a:tcPr marL="64008" marR="64008" marT="13716" marB="13716" anchor="ctr">
                    <a:solidFill>
                      <a:srgbClr val="E8EFF8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02920" y="5897880"/>
            <a:ext cx="1118311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5E6A7A"/>
                </a:solidFill>
                <a:latin typeface="Segoe UI"/>
              </a:rPr>
              <a:t>Management view re-arranges the bottom-up budget for review: Karl moves from Professional Fees into People; software aligned under IT. People &amp; Benefits carries 60% of the cost base. USD items re-rate with live FX.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2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18872"/>
            <a:ext cx="8778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9FC0EE"/>
                </a:solidFill>
                <a:latin typeface="Segoe UI"/>
              </a:rPr>
              <a:t>FY27 BUDGET · OPEX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47472"/>
            <a:ext cx="89611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300" b="1">
                <a:solidFill>
                  <a:srgbClr val="FFFFFF"/>
                </a:solidFill>
                <a:latin typeface="Segoe UI"/>
              </a:rPr>
              <a:t>Operating Expenses — FY26 vs FY27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95360" y="118872"/>
            <a:ext cx="310896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9FC0EE"/>
                </a:solidFill>
                <a:latin typeface="Segoe UI"/>
              </a:rPr>
              <a:t>Westmill core OPEX −5%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9672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5E6A7A"/>
                </a:solidFill>
                <a:latin typeface="Segoe UI"/>
              </a:rPr>
              <a:t>The WESTMILL Way  —  "We've got your back."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0" y="6519672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5E6A7A"/>
                </a:solidFill>
                <a:latin typeface="Segoe UI"/>
              </a:rPr>
              <a:t>Westmill Industries Ltd. · Board Review · July 2026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325880"/>
          <a:ext cx="11183110" cy="285292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688047"/>
                <a:gridCol w="1903508"/>
                <a:gridCol w="1903508"/>
                <a:gridCol w="1903508"/>
                <a:gridCol w="1784539"/>
              </a:tblGrid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Category</a:t>
                      </a:r>
                    </a:p>
                  </a:txBody>
                  <a:tcPr marL="64008" marR="64008" marT="13716" marB="13716" anchor="ctr">
                    <a:solidFill>
                      <a:srgbClr val="1E2B4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FY26 Budget</a:t>
                      </a:r>
                    </a:p>
                  </a:txBody>
                  <a:tcPr marL="64008" marR="64008" marT="13716" marB="13716" anchor="ctr">
                    <a:solidFill>
                      <a:srgbClr val="1E2B4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FY27 Westmill</a:t>
                      </a:r>
                    </a:p>
                  </a:txBody>
                  <a:tcPr marL="64008" marR="64008" marT="13716" marB="13716" anchor="ctr">
                    <a:solidFill>
                      <a:srgbClr val="1E2B4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FY27 Lakeview*</a:t>
                      </a:r>
                    </a:p>
                  </a:txBody>
                  <a:tcPr marL="64008" marR="64008" marT="13716" marB="13716" anchor="ctr">
                    <a:solidFill>
                      <a:srgbClr val="1E2B4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Δ FY27 vs FY26</a:t>
                      </a:r>
                    </a:p>
                  </a:txBody>
                  <a:tcPr marL="64008" marR="64008" marT="13716" marB="13716" anchor="ctr">
                    <a:solidFill>
                      <a:srgbClr val="1E2B4D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222833"/>
                          </a:solidFill>
                          <a:latin typeface="Segoe UI"/>
                        </a:rPr>
                        <a:t>Salaries &amp; Benefits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>
                          <a:solidFill>
                            <a:srgbClr val="222833"/>
                          </a:solidFill>
                          <a:latin typeface="Segoe UI"/>
                        </a:rPr>
                        <a:t>$2,263,968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>
                          <a:solidFill>
                            <a:srgbClr val="222833"/>
                          </a:solidFill>
                          <a:latin typeface="Segoe UI"/>
                        </a:rPr>
                        <a:t>$1,887,456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>
                          <a:solidFill>
                            <a:srgbClr val="222833"/>
                          </a:solidFill>
                          <a:latin typeface="Segoe UI"/>
                        </a:rPr>
                        <a:t>$2,135,341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>
                          <a:solidFill>
                            <a:srgbClr val="2D8659"/>
                          </a:solidFill>
                          <a:latin typeface="Segoe UI"/>
                        </a:rPr>
                        <a:t>−17%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222833"/>
                          </a:solidFill>
                          <a:latin typeface="Segoe UI"/>
                        </a:rPr>
                        <a:t>Professional Fees</a:t>
                      </a:r>
                    </a:p>
                  </a:txBody>
                  <a:tcPr marL="64008" marR="64008" marT="13716" marB="13716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>
                          <a:solidFill>
                            <a:srgbClr val="222833"/>
                          </a:solidFill>
                          <a:latin typeface="Segoe UI"/>
                        </a:rPr>
                        <a:t>$492,074</a:t>
                      </a:r>
                    </a:p>
                  </a:txBody>
                  <a:tcPr marL="64008" marR="64008" marT="13716" marB="13716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>
                          <a:solidFill>
                            <a:srgbClr val="222833"/>
                          </a:solidFill>
                          <a:latin typeface="Segoe UI"/>
                        </a:rPr>
                        <a:t>$563,200</a:t>
                      </a:r>
                    </a:p>
                  </a:txBody>
                  <a:tcPr marL="64008" marR="64008" marT="13716" marB="13716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>
                          <a:solidFill>
                            <a:srgbClr val="222833"/>
                          </a:solidFill>
                          <a:latin typeface="Segoe UI"/>
                        </a:rPr>
                        <a:t>$563,200</a:t>
                      </a:r>
                    </a:p>
                  </a:txBody>
                  <a:tcPr marL="64008" marR="64008" marT="13716" marB="13716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>
                          <a:solidFill>
                            <a:srgbClr val="C05028"/>
                          </a:solidFill>
                          <a:latin typeface="Segoe UI"/>
                        </a:rPr>
                        <a:t>+14%</a:t>
                      </a:r>
                    </a:p>
                  </a:txBody>
                  <a:tcPr marL="64008" marR="64008" marT="13716" marB="13716" anchor="ctr">
                    <a:solidFill>
                      <a:srgbClr val="F5F7FA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222833"/>
                          </a:solidFill>
                          <a:latin typeface="Segoe UI"/>
                        </a:rPr>
                        <a:t>Advertising &amp; Promotion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>
                          <a:solidFill>
                            <a:srgbClr val="222833"/>
                          </a:solidFill>
                          <a:latin typeface="Segoe UI"/>
                        </a:rPr>
                        <a:t>$94,704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>
                          <a:solidFill>
                            <a:srgbClr val="222833"/>
                          </a:solidFill>
                          <a:latin typeface="Segoe UI"/>
                        </a:rPr>
                        <a:t>$62,685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>
                          <a:solidFill>
                            <a:srgbClr val="222833"/>
                          </a:solidFill>
                          <a:latin typeface="Segoe UI"/>
                        </a:rPr>
                        <a:t>$62,685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>
                          <a:solidFill>
                            <a:srgbClr val="2D8659"/>
                          </a:solidFill>
                          <a:latin typeface="Segoe UI"/>
                        </a:rPr>
                        <a:t>−34%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222833"/>
                          </a:solidFill>
                          <a:latin typeface="Segoe UI"/>
                        </a:rPr>
                        <a:t>General &amp; Administrative</a:t>
                      </a:r>
                    </a:p>
                  </a:txBody>
                  <a:tcPr marL="64008" marR="64008" marT="13716" marB="13716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>
                          <a:solidFill>
                            <a:srgbClr val="222833"/>
                          </a:solidFill>
                          <a:latin typeface="Segoe UI"/>
                        </a:rPr>
                        <a:t>$923,479</a:t>
                      </a:r>
                    </a:p>
                  </a:txBody>
                  <a:tcPr marL="64008" marR="64008" marT="13716" marB="13716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>
                          <a:solidFill>
                            <a:srgbClr val="222833"/>
                          </a:solidFill>
                          <a:latin typeface="Segoe UI"/>
                        </a:rPr>
                        <a:t>$978,188</a:t>
                      </a:r>
                    </a:p>
                  </a:txBody>
                  <a:tcPr marL="64008" marR="64008" marT="13716" marB="13716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>
                          <a:solidFill>
                            <a:srgbClr val="222833"/>
                          </a:solidFill>
                          <a:latin typeface="Segoe UI"/>
                        </a:rPr>
                        <a:t>$1,003,188</a:t>
                      </a:r>
                    </a:p>
                  </a:txBody>
                  <a:tcPr marL="64008" marR="64008" marT="13716" marB="13716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>
                          <a:solidFill>
                            <a:srgbClr val="C05028"/>
                          </a:solidFill>
                          <a:latin typeface="Segoe UI"/>
                        </a:rPr>
                        <a:t>+6%</a:t>
                      </a:r>
                    </a:p>
                  </a:txBody>
                  <a:tcPr marL="64008" marR="64008" marT="13716" marB="13716" anchor="ctr">
                    <a:solidFill>
                      <a:srgbClr val="F5F7FA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222833"/>
                          </a:solidFill>
                          <a:latin typeface="Segoe UI"/>
                        </a:rPr>
                        <a:t>USA Corp G&amp;A (USD)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>
                          <a:solidFill>
                            <a:srgbClr val="222833"/>
                          </a:solidFill>
                          <a:latin typeface="Segoe UI"/>
                        </a:rPr>
                        <a:t>$150,481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>
                          <a:solidFill>
                            <a:srgbClr val="222833"/>
                          </a:solidFill>
                          <a:latin typeface="Segoe UI"/>
                        </a:rPr>
                        <a:t>$221,569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>
                          <a:solidFill>
                            <a:srgbClr val="222833"/>
                          </a:solidFill>
                          <a:latin typeface="Segoe UI"/>
                        </a:rPr>
                        <a:t>$221,569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>
                          <a:solidFill>
                            <a:srgbClr val="C05028"/>
                          </a:solidFill>
                          <a:latin typeface="Segoe UI"/>
                        </a:rPr>
                        <a:t>+47%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222833"/>
                          </a:solidFill>
                          <a:latin typeface="Segoe UI"/>
                        </a:rPr>
                        <a:t>Total OPEX</a:t>
                      </a:r>
                    </a:p>
                  </a:txBody>
                  <a:tcPr marL="64008" marR="64008" marT="13716" marB="13716" anchor="ctr">
                    <a:solidFill>
                      <a:srgbClr val="E8EF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1">
                          <a:solidFill>
                            <a:srgbClr val="222833"/>
                          </a:solidFill>
                          <a:latin typeface="Segoe UI"/>
                        </a:rPr>
                        <a:t>$3,924,706</a:t>
                      </a:r>
                    </a:p>
                  </a:txBody>
                  <a:tcPr marL="64008" marR="64008" marT="13716" marB="13716" anchor="ctr">
                    <a:solidFill>
                      <a:srgbClr val="E8EF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1">
                          <a:solidFill>
                            <a:srgbClr val="222833"/>
                          </a:solidFill>
                          <a:latin typeface="Segoe UI"/>
                        </a:rPr>
                        <a:t>$3,713,098</a:t>
                      </a:r>
                    </a:p>
                  </a:txBody>
                  <a:tcPr marL="64008" marR="64008" marT="13716" marB="13716" anchor="ctr">
                    <a:solidFill>
                      <a:srgbClr val="E8EF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1">
                          <a:solidFill>
                            <a:srgbClr val="222833"/>
                          </a:solidFill>
                          <a:latin typeface="Segoe UI"/>
                        </a:rPr>
                        <a:t>$3,985,983</a:t>
                      </a:r>
                    </a:p>
                  </a:txBody>
                  <a:tcPr marL="64008" marR="64008" marT="13716" marB="13716" anchor="ctr">
                    <a:solidFill>
                      <a:srgbClr val="E8EF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1">
                          <a:solidFill>
                            <a:srgbClr val="2D8659"/>
                          </a:solidFill>
                          <a:latin typeface="Segoe UI"/>
                        </a:rPr>
                        <a:t>−5%</a:t>
                      </a:r>
                    </a:p>
                  </a:txBody>
                  <a:tcPr marL="64008" marR="64008" marT="13716" marB="13716" anchor="ctr">
                    <a:solidFill>
                      <a:srgbClr val="E8EFF8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502920" y="4434840"/>
            <a:ext cx="3639312" cy="118872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9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" y="4535424"/>
            <a:ext cx="33832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5E6A7A"/>
                </a:solidFill>
                <a:latin typeface="Segoe UI"/>
              </a:rPr>
              <a:t>FY26 OPEX ACTUAL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" y="4764024"/>
            <a:ext cx="3383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100" b="1">
                <a:solidFill>
                  <a:srgbClr val="1E2B4D"/>
                </a:solidFill>
                <a:latin typeface="Segoe UI"/>
              </a:rPr>
              <a:t>$3.78M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" y="5138928"/>
            <a:ext cx="33832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5E6A7A"/>
                </a:solidFill>
                <a:latin typeface="Segoe UI"/>
              </a:rPr>
              <a:t>96.2% of the $3.92M FY26 budget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79392" y="4434840"/>
            <a:ext cx="3639312" cy="1188720"/>
          </a:xfrm>
          <a:prstGeom prst="roundRect">
            <a:avLst>
              <a:gd name="adj" fmla="val 8000"/>
            </a:avLst>
          </a:prstGeom>
          <a:solidFill>
            <a:srgbClr val="E8EFF8"/>
          </a:solidFill>
          <a:ln w="9525">
            <a:solidFill>
              <a:srgbClr val="3B7D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07408" y="4535424"/>
            <a:ext cx="33832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5E6A7A"/>
                </a:solidFill>
                <a:latin typeface="Segoe UI"/>
              </a:rPr>
              <a:t>FY27 WESTMILL BUDGET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07408" y="4764024"/>
            <a:ext cx="3383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100" b="1">
                <a:solidFill>
                  <a:srgbClr val="1E2B4D"/>
                </a:solidFill>
                <a:latin typeface="Segoe UI"/>
              </a:rPr>
              <a:t>$3.71M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07408" y="5138928"/>
            <a:ext cx="33832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2D8659"/>
                </a:solidFill>
                <a:latin typeface="Segoe UI"/>
              </a:rPr>
              <a:t>−5% vs FY26 budget · −2% vs FY26 actual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55864" y="4434840"/>
            <a:ext cx="3639312" cy="118872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9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83880" y="4535424"/>
            <a:ext cx="33832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5E6A7A"/>
                </a:solidFill>
                <a:latin typeface="Segoe UI"/>
              </a:rPr>
              <a:t>FY27 LAKEVIEW (NORMALIZED)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83880" y="4764024"/>
            <a:ext cx="3383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100" b="1">
                <a:solidFill>
                  <a:srgbClr val="1E2B4D"/>
                </a:solidFill>
                <a:latin typeface="Segoe UI"/>
              </a:rPr>
              <a:t>$3.99M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83880" y="5138928"/>
            <a:ext cx="33832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5E6A7A"/>
                </a:solidFill>
                <a:latin typeface="Segoe UI"/>
              </a:rPr>
              <a:t>+$273K add-backs: market-rate mgmt salary + rent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5806440"/>
            <a:ext cx="1118311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5E6A7A"/>
                </a:solidFill>
                <a:latin typeface="Segoe UI"/>
              </a:rPr>
              <a:t>* Lakeview basis normalizes two lines for diligence: management compensation (Mike Crondahl) $92K → $340K (+$248K) and Abbotsford rent $325K → $350K (+$25K). Normalized EBIT (Target) is $4.00M vs $4.27M on the budget basis. Δ column compares FY27 Westmill vs FY26 budget.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2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18872"/>
            <a:ext cx="8778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9FC0EE"/>
                </a:solidFill>
                <a:latin typeface="Segoe UI"/>
              </a:rPr>
              <a:t>FY27 BUDGET · GROWTH OPTION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47472"/>
            <a:ext cx="89611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300" b="1">
                <a:solidFill>
                  <a:srgbClr val="FFFFFF"/>
                </a:solidFill>
                <a:latin typeface="Segoe UI"/>
              </a:rPr>
              <a:t>Strategic Investment — Lumber Sales Hire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95360" y="118872"/>
            <a:ext cx="310896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9FC0EE"/>
                </a:solidFill>
                <a:latin typeface="Segoe UI"/>
              </a:rPr>
              <a:t>Pending business 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9672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5E6A7A"/>
                </a:solidFill>
                <a:latin typeface="Segoe UI"/>
              </a:rPr>
              <a:t>The WESTMILL Way  —  "We've got your back."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0" y="6519672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5E6A7A"/>
                </a:solidFill>
                <a:latin typeface="Segoe UI"/>
              </a:rPr>
              <a:t>Westmill Industries Ltd. · Board Review · July 2026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371600"/>
          <a:ext cx="5852158" cy="206654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261859"/>
                <a:gridCol w="1055307"/>
                <a:gridCol w="1534992"/>
              </a:tblGrid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Item</a:t>
                      </a:r>
                    </a:p>
                  </a:txBody>
                  <a:tcPr marL="64008" marR="64008" marT="13716" marB="13716" anchor="ctr">
                    <a:solidFill>
                      <a:srgbClr val="1E2B4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Type</a:t>
                      </a:r>
                    </a:p>
                  </a:txBody>
                  <a:tcPr marL="64008" marR="64008" marT="13716" marB="13716" anchor="ctr">
                    <a:solidFill>
                      <a:srgbClr val="1E2B4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Amount (CAD)</a:t>
                      </a:r>
                    </a:p>
                  </a:txBody>
                  <a:tcPr marL="64008" marR="64008" marT="13716" marB="13716" anchor="ctr">
                    <a:solidFill>
                      <a:srgbClr val="1E2B4D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222833"/>
                          </a:solidFill>
                          <a:latin typeface="Segoe UI"/>
                        </a:rPr>
                        <a:t>New sales hire — salary &amp; commissions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222833"/>
                          </a:solidFill>
                          <a:latin typeface="Segoe UI"/>
                        </a:rPr>
                        <a:t>Fixed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>
                          <a:solidFill>
                            <a:srgbClr val="222833"/>
                          </a:solidFill>
                          <a:latin typeface="Segoe UI"/>
                        </a:rPr>
                        <a:t>$135,000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222833"/>
                          </a:solidFill>
                          <a:latin typeface="Segoe UI"/>
                        </a:rPr>
                        <a:t>Travel &amp; client entertainment</a:t>
                      </a:r>
                    </a:p>
                  </a:txBody>
                  <a:tcPr marL="64008" marR="64008" marT="13716" marB="13716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222833"/>
                          </a:solidFill>
                          <a:latin typeface="Segoe UI"/>
                        </a:rPr>
                        <a:t>Variable</a:t>
                      </a:r>
                    </a:p>
                  </a:txBody>
                  <a:tcPr marL="64008" marR="64008" marT="13716" marB="13716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>
                          <a:solidFill>
                            <a:srgbClr val="222833"/>
                          </a:solidFill>
                          <a:latin typeface="Segoe UI"/>
                        </a:rPr>
                        <a:t>$52,500</a:t>
                      </a:r>
                    </a:p>
                  </a:txBody>
                  <a:tcPr marL="64008" marR="64008" marT="13716" marB="13716" anchor="ctr">
                    <a:solidFill>
                      <a:srgbClr val="F5F7FA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222833"/>
                          </a:solidFill>
                          <a:latin typeface="Segoe UI"/>
                        </a:rPr>
                        <a:t>Overhead &amp; support costs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222833"/>
                          </a:solidFill>
                          <a:latin typeface="Segoe UI"/>
                        </a:rPr>
                        <a:t>Variable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>
                          <a:solidFill>
                            <a:srgbClr val="222833"/>
                          </a:solidFill>
                          <a:latin typeface="Segoe UI"/>
                        </a:rPr>
                        <a:t>$52,500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222833"/>
                          </a:solidFill>
                          <a:latin typeface="Segoe UI"/>
                        </a:rPr>
                        <a:t>Total proposed strategic investment</a:t>
                      </a:r>
                    </a:p>
                  </a:txBody>
                  <a:tcPr marL="64008" marR="64008" marT="13716" marB="13716" anchor="ctr">
                    <a:solidFill>
                      <a:srgbClr val="E8EF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222833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64008" marR="64008" marT="13716" marB="13716" anchor="ctr">
                    <a:solidFill>
                      <a:srgbClr val="E8EF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1">
                          <a:solidFill>
                            <a:srgbClr val="222833"/>
                          </a:solidFill>
                          <a:latin typeface="Segoe UI"/>
                        </a:rPr>
                        <a:t>$240,000</a:t>
                      </a:r>
                    </a:p>
                  </a:txBody>
                  <a:tcPr marL="64008" marR="64008" marT="13716" marB="13716" anchor="ctr">
                    <a:solidFill>
                      <a:srgbClr val="E8EFF8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6720840" y="1371600"/>
            <a:ext cx="4965192" cy="329184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9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67728" y="1554480"/>
            <a:ext cx="4480560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150" b="1">
                <a:solidFill>
                  <a:srgbClr val="1E2B4D"/>
                </a:solidFill>
                <a:latin typeface="Segoe UI"/>
              </a:rPr>
              <a:t>Rationale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050" b="0">
                <a:solidFill>
                  <a:srgbClr val="222833"/>
                </a:solidFill>
                <a:latin typeface="Segoe UI"/>
              </a:rPr>
              <a:t>Funds a dedicated technical sales resource to lead the lumber-drying diversification — building relationships and opportunities with key OEMs (Valutec, Jartek). Directly serves VTO Goal 5 (Lumber).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150" b="1">
                <a:solidFill>
                  <a:srgbClr val="1E2B4D"/>
                </a:solidFill>
                <a:latin typeface="Segoe UI"/>
              </a:rPr>
              <a:t>Timeline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050" b="0">
                <a:solidFill>
                  <a:srgbClr val="222833"/>
                </a:solidFill>
                <a:latin typeface="Segoe UI"/>
              </a:rPr>
              <a:t>Recruitment Q2 FY27 → Q2–Q3 market knowledge and OEM relationships → active selling from Q4 FY27 → first revenue no earlier than FY28. Original $320K reduced to $240K (75%) reflecting the Q2 start.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3977639"/>
            <a:ext cx="5852160" cy="2057400"/>
          </a:xfrm>
          <a:prstGeom prst="roundRect">
            <a:avLst>
              <a:gd name="adj" fmla="val 80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4160520"/>
            <a:ext cx="539496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50" b="1">
                <a:solidFill>
                  <a:srgbClr val="1E2B4D"/>
                </a:solidFill>
                <a:latin typeface="Segoe UI"/>
              </a:rPr>
              <a:t>Approval conditions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050" b="0">
                <a:solidFill>
                  <a:srgbClr val="222833"/>
                </a:solidFill>
                <a:latin typeface="Segoe UI"/>
              </a:rPr>
              <a:t>•  Not approved in the FY27 budget — excluded from all P&amp;L scenarios, KPIs and EBIT.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050" b="0">
                <a:solidFill>
                  <a:srgbClr val="222833"/>
                </a:solidFill>
                <a:latin typeface="Segoe UI"/>
              </a:rPr>
              <a:t>•  Management will table a formal business case for board review before recruitment begins.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050" b="0">
                <a:solidFill>
                  <a:srgbClr val="222833"/>
                </a:solidFill>
                <a:latin typeface="Segoe UI"/>
              </a:rPr>
              <a:t>•  Contingent on a credible lumber pipeline and confirmation the Target scenario is tracking on plan.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2313432"/>
            <a:ext cx="82296" cy="1737360"/>
          </a:xfrm>
          <a:prstGeom prst="rect">
            <a:avLst/>
          </a:prstGeom>
          <a:solidFill>
            <a:srgbClr val="3B7D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224028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000" b="1">
                <a:solidFill>
                  <a:srgbClr val="3B7DD8"/>
                </a:solidFill>
                <a:latin typeface="Segoe UI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74320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4000" b="1">
                <a:solidFill>
                  <a:srgbClr val="FFFFFF"/>
                </a:solidFill>
                <a:latin typeface="Segoe UI"/>
              </a:rPr>
              <a:t>FY27 Vision / Traction Organizer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3703320"/>
            <a:ext cx="98755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0">
                <a:solidFill>
                  <a:srgbClr val="B9C6DE"/>
                </a:solidFill>
                <a:latin typeface="Segoe UI"/>
              </a:rPr>
              <a:t>1-Year Plan and Quarterly Rocks — 7 primary goals across 4 quarters, aligned to the 3-Year Picture (FY29) and the 5-Year Target (FY31): $35M revenue @ 47% gross margin.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35508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8A97B5"/>
                </a:solidFill>
                <a:latin typeface="Segoe UI"/>
              </a:rPr>
              <a:t>The WESTMILL Way  —  "We've got your back."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2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18872"/>
            <a:ext cx="8778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9FC0EE"/>
                </a:solidFill>
                <a:latin typeface="Segoe UI"/>
              </a:rPr>
              <a:t>FY27 VTO · VISION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47472"/>
            <a:ext cx="89611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300" b="1">
                <a:solidFill>
                  <a:srgbClr val="FFFFFF"/>
                </a:solidFill>
                <a:latin typeface="Segoe UI"/>
              </a:rPr>
              <a:t>Core Values, Core Focus &amp; Marketing Strategy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9672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5E6A7A"/>
                </a:solidFill>
                <a:latin typeface="Segoe UI"/>
              </a:rPr>
              <a:t>The WESTMILL Way  —  "We've got your back."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0" y="6519672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5E6A7A"/>
                </a:solidFill>
                <a:latin typeface="Segoe UI"/>
              </a:rPr>
              <a:t>Westmill Industries Ltd. · Board Review · July 2026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280160"/>
            <a:ext cx="5440680" cy="265176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9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463040"/>
            <a:ext cx="493776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3B7DD8"/>
                </a:solidFill>
                <a:latin typeface="Segoe UI"/>
              </a:rPr>
              <a:t>CORE VALUES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222833"/>
                </a:solidFill>
                <a:latin typeface="Segoe UI"/>
              </a:rPr>
              <a:t>1.  Pride in our work.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222833"/>
                </a:solidFill>
                <a:latin typeface="Segoe UI"/>
              </a:rPr>
              <a:t>2.  Honesty, integrity, and humility.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222833"/>
                </a:solidFill>
                <a:latin typeface="Segoe UI"/>
              </a:rPr>
              <a:t>3.  Flexibility and innovative ideas with a can-do attitude.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222833"/>
                </a:solidFill>
                <a:latin typeface="Segoe UI"/>
              </a:rPr>
              <a:t>4.  The customer always comes first — We've got your back.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222833"/>
                </a:solidFill>
                <a:latin typeface="Segoe UI"/>
              </a:rPr>
              <a:t>5.  Teamwork makes the dream work. Building long-term relationships.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4114800"/>
            <a:ext cx="5440680" cy="196596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9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4297680"/>
            <a:ext cx="4937760" cy="1691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200" b="1">
                <a:solidFill>
                  <a:srgbClr val="3B7DD8"/>
                </a:solidFill>
                <a:latin typeface="Segoe UI"/>
              </a:rPr>
              <a:t>CORE FOCUS™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150" b="1">
                <a:solidFill>
                  <a:srgbClr val="1E2B4D"/>
                </a:solidFill>
                <a:latin typeface="Segoe UI"/>
              </a:rPr>
              <a:t>Purpose:  </a:t>
            </a:r>
            <a:r>
              <a:rPr sz="1150" b="0">
                <a:solidFill>
                  <a:srgbClr val="222833"/>
                </a:solidFill>
                <a:latin typeface="Segoe UI"/>
              </a:rPr>
              <a:t>Being the partner our customers trust to solve their toughest drying challenges.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150" b="1">
                <a:solidFill>
                  <a:srgbClr val="1E2B4D"/>
                </a:solidFill>
                <a:latin typeface="Segoe UI"/>
              </a:rPr>
              <a:t>Niche:  </a:t>
            </a:r>
            <a:r>
              <a:rPr sz="1150" b="0">
                <a:solidFill>
                  <a:srgbClr val="222833"/>
                </a:solidFill>
                <a:latin typeface="Segoe UI"/>
              </a:rPr>
              <a:t>"The Dryer Guys" — leader in board drying technologies. New industrial dryers, remodels and parts.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45352" y="1280160"/>
            <a:ext cx="5440680" cy="265176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9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19672" y="1463040"/>
            <a:ext cx="493776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200" b="1">
                <a:solidFill>
                  <a:srgbClr val="3B7DD8"/>
                </a:solidFill>
                <a:latin typeface="Segoe UI"/>
              </a:rPr>
              <a:t>MARKETING STRATEGY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150" b="1">
                <a:solidFill>
                  <a:srgbClr val="1E2B4D"/>
                </a:solidFill>
                <a:latin typeface="Segoe UI"/>
              </a:rPr>
              <a:t>Target market — "The List":  </a:t>
            </a:r>
            <a:r>
              <a:rPr sz="1150" b="0">
                <a:solidFill>
                  <a:srgbClr val="222833"/>
                </a:solidFill>
                <a:latin typeface="Segoe UI"/>
              </a:rPr>
              <a:t>Softwood Plywood · Gypsum · Fiberboard · Hardwood Plywood · Lumber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150" b="1">
                <a:solidFill>
                  <a:srgbClr val="1E2B4D"/>
                </a:solidFill>
                <a:latin typeface="Segoe UI"/>
              </a:rPr>
              <a:t>Three Uniques™:  </a:t>
            </a:r>
            <a:r>
              <a:rPr sz="1150" b="0">
                <a:solidFill>
                  <a:srgbClr val="222833"/>
                </a:solidFill>
                <a:latin typeface="Segoe UI"/>
              </a:rPr>
              <a:t>Innovative drying solutions · dryer technology upgrades · parts for every make of dryer at competitive prices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150" b="1">
                <a:solidFill>
                  <a:srgbClr val="1E2B4D"/>
                </a:solidFill>
                <a:latin typeface="Segoe UI"/>
              </a:rPr>
              <a:t>Proven process:  </a:t>
            </a:r>
            <a:r>
              <a:rPr sz="1150" b="0">
                <a:solidFill>
                  <a:srgbClr val="222833"/>
                </a:solidFill>
                <a:latin typeface="Segoe UI"/>
              </a:rPr>
              <a:t>The WESTMILL Way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45352" y="4114800"/>
            <a:ext cx="5440680" cy="1965960"/>
          </a:xfrm>
          <a:prstGeom prst="roundRect">
            <a:avLst>
              <a:gd name="adj" fmla="val 80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19672" y="4297680"/>
            <a:ext cx="4937760" cy="1691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200" b="1">
                <a:solidFill>
                  <a:srgbClr val="3B7DD8"/>
                </a:solidFill>
                <a:latin typeface="Segoe UI"/>
              </a:rPr>
              <a:t>GUARANTEE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150" b="0">
                <a:solidFill>
                  <a:srgbClr val="222833"/>
                </a:solidFill>
                <a:latin typeface="Segoe UI"/>
              </a:rPr>
              <a:t>Pre &amp; post-delivery — we work with our customers until they are completely satisfied.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250" b="1">
                <a:solidFill>
                  <a:srgbClr val="1E2B4D"/>
                </a:solidFill>
                <a:latin typeface="Segoe UI"/>
              </a:rPr>
              <a:t>"We've got your back."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2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18872"/>
            <a:ext cx="8778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9FC0EE"/>
                </a:solidFill>
                <a:latin typeface="Segoe UI"/>
              </a:rPr>
              <a:t>FY27 VTO · DESTINATION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47472"/>
            <a:ext cx="89611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300" b="1">
                <a:solidFill>
                  <a:srgbClr val="FFFFFF"/>
                </a:solidFill>
                <a:latin typeface="Segoe UI"/>
              </a:rPr>
              <a:t>5-Year Target (FY31) &amp; 3-Year Picture (FY29)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9672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5E6A7A"/>
                </a:solidFill>
                <a:latin typeface="Segoe UI"/>
              </a:rPr>
              <a:t>The WESTMILL Way  —  "We've got your back."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0" y="6519672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5E6A7A"/>
                </a:solidFill>
                <a:latin typeface="Segoe UI"/>
              </a:rPr>
              <a:t>Westmill Industries Ltd. · Board Review · July 2026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280160"/>
            <a:ext cx="4023360" cy="4800600"/>
          </a:xfrm>
          <a:prstGeom prst="roundRect">
            <a:avLst>
              <a:gd name="adj" fmla="val 8000"/>
            </a:avLst>
          </a:prstGeom>
          <a:solidFill>
            <a:srgbClr val="1E2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481328"/>
            <a:ext cx="352044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3B7DD8"/>
                </a:solidFill>
                <a:latin typeface="Segoe UI"/>
              </a:rPr>
              <a:t>5-YEAR TARGET™ · FY31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400" b="1">
                <a:solidFill>
                  <a:srgbClr val="FFFFFF"/>
                </a:solidFill>
                <a:latin typeface="Segoe UI"/>
              </a:rPr>
              <a:t>$35M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C9D5EA"/>
                </a:solidFill>
                <a:latin typeface="Segoe UI"/>
              </a:rPr>
              <a:t>Revenue @ 47% gross margin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50" b="0">
                <a:solidFill>
                  <a:srgbClr val="FFFFFF"/>
                </a:solidFill>
                <a:latin typeface="Segoe UI"/>
              </a:rPr>
              <a:t>•  Recurring Parts revenue covers core OPEX — capital sales become profit upside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50" b="0">
                <a:solidFill>
                  <a:srgbClr val="FFFFFF"/>
                </a:solidFill>
                <a:latin typeface="Segoe UI"/>
              </a:rPr>
              <a:t>•  Diversified revenue streams — new segments &amp; "other" dryer markets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50" b="0">
                <a:solidFill>
                  <a:srgbClr val="FFFFFF"/>
                </a:solidFill>
                <a:latin typeface="Segoe UI"/>
              </a:rPr>
              <a:t>•  GP trust regained — access 25% of the addressable market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50" b="0">
                <a:solidFill>
                  <a:srgbClr val="FFFFFF"/>
                </a:solidFill>
                <a:latin typeface="Segoe UI"/>
              </a:rPr>
              <a:t>•  Senior team focused on strategy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50" b="0">
                <a:solidFill>
                  <a:srgbClr val="FFFFFF"/>
                </a:solidFill>
                <a:latin typeface="Segoe UI"/>
              </a:rPr>
              <a:t>•  First Westmill Gypsum Dryer delivered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50" b="0">
                <a:solidFill>
                  <a:srgbClr val="FFFFFF"/>
                </a:solidFill>
                <a:latin typeface="Segoe UI"/>
              </a:rPr>
              <a:t>•  Bureaucracy minimized via Power Platform &amp; AI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50" b="0">
                <a:solidFill>
                  <a:srgbClr val="FFFFFF"/>
                </a:solidFill>
                <a:latin typeface="Segoe UI"/>
              </a:rPr>
              <a:t>•  Southern US office resourced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46320" y="128016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1E2B4D"/>
                </a:solidFill>
                <a:latin typeface="Segoe UI"/>
              </a:rPr>
              <a:t>3-YEAR PICTURE™ · FY29 measurables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846320" y="1737360"/>
            <a:ext cx="3346704" cy="96012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9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83480" y="1828800"/>
            <a:ext cx="307238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3B7DD8"/>
                </a:solidFill>
                <a:latin typeface="Segoe UI"/>
              </a:rPr>
              <a:t>$35M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83480" y="2167128"/>
            <a:ext cx="3072384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222833"/>
                </a:solidFill>
                <a:latin typeface="Segoe UI"/>
              </a:rPr>
              <a:t>Revenue trajectory — Capital $27M / Parts $8M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21040" y="1737360"/>
            <a:ext cx="3346704" cy="96012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9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58200" y="1828800"/>
            <a:ext cx="307238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3B7DD8"/>
                </a:solidFill>
                <a:latin typeface="Segoe UI"/>
              </a:rPr>
              <a:t>47%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58200" y="2167128"/>
            <a:ext cx="3072384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222833"/>
                </a:solidFill>
                <a:latin typeface="Segoe UI"/>
              </a:rPr>
              <a:t>Gross margin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846320" y="2816352"/>
            <a:ext cx="3346704" cy="96012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9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983480" y="2907792"/>
            <a:ext cx="307238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3B7DD8"/>
                </a:solidFill>
                <a:latin typeface="Segoe UI"/>
              </a:rPr>
              <a:t>15%+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83480" y="3246120"/>
            <a:ext cx="3072384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222833"/>
                </a:solidFill>
                <a:latin typeface="Segoe UI"/>
              </a:rPr>
              <a:t>Parts CAGR, FY25→FY29 — proactively protected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321040" y="2816352"/>
            <a:ext cx="3346704" cy="96012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9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58200" y="2907792"/>
            <a:ext cx="307238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3B7DD8"/>
                </a:solidFill>
                <a:latin typeface="Segoe UI"/>
              </a:rPr>
              <a:t>Majority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58200" y="3246120"/>
            <a:ext cx="3072384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222833"/>
                </a:solidFill>
                <a:latin typeface="Segoe UI"/>
              </a:rPr>
              <a:t>Core OPEX covered by Parts revenue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846320" y="3895344"/>
            <a:ext cx="3346704" cy="96012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9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983480" y="3986784"/>
            <a:ext cx="307238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3B7DD8"/>
                </a:solidFill>
                <a:latin typeface="Segoe UI"/>
              </a:rPr>
              <a:t>≥1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83480" y="4325112"/>
            <a:ext cx="3072384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222833"/>
                </a:solidFill>
                <a:latin typeface="Segoe UI"/>
              </a:rPr>
              <a:t>Gypsum capital project won at &gt;$5M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321040" y="3895344"/>
            <a:ext cx="3346704" cy="96012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9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58200" y="3986784"/>
            <a:ext cx="307238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3B7DD8"/>
                </a:solidFill>
                <a:latin typeface="Segoe UI"/>
              </a:rPr>
              <a:t>Reinstated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58200" y="4325112"/>
            <a:ext cx="3072384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222833"/>
                </a:solidFill>
                <a:latin typeface="Segoe UI"/>
              </a:rPr>
              <a:t>GP relationship — quoting Capital &amp; Parts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846320" y="4974336"/>
            <a:ext cx="3346704" cy="96012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9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983480" y="5065776"/>
            <a:ext cx="307238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3B7DD8"/>
                </a:solidFill>
                <a:latin typeface="Segoe UI"/>
              </a:rPr>
              <a:t>Lumber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983480" y="5404104"/>
            <a:ext cx="3072384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222833"/>
                </a:solidFill>
                <a:latin typeface="Segoe UI"/>
              </a:rPr>
              <a:t>Live, revenue-generating new segment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321040" y="4974336"/>
            <a:ext cx="3346704" cy="96012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9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458200" y="5065776"/>
            <a:ext cx="307238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3B7DD8"/>
                </a:solidFill>
                <a:latin typeface="Segoe UI"/>
              </a:rPr>
              <a:t>US office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58200" y="5404104"/>
            <a:ext cx="3072384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222833"/>
                </a:solidFill>
                <a:latin typeface="Segoe UI"/>
              </a:rPr>
              <a:t>Resourced — strengthening Southern USA presence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2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18872"/>
            <a:ext cx="8778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9FC0EE"/>
                </a:solidFill>
                <a:latin typeface="Segoe UI"/>
              </a:rPr>
              <a:t>FY27 VTO ·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47472"/>
            <a:ext cx="89611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300" b="1">
                <a:solidFill>
                  <a:srgbClr val="FFFFFF"/>
                </a:solidFill>
                <a:latin typeface="Segoe UI"/>
              </a:rPr>
              <a:t>Three Themes — Delivered Concurrently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9672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5E6A7A"/>
                </a:solidFill>
                <a:latin typeface="Segoe UI"/>
              </a:rPr>
              <a:t>The WESTMILL Way  —  "We've got your back."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0" y="6519672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5E6A7A"/>
                </a:solidFill>
                <a:latin typeface="Segoe UI"/>
              </a:rPr>
              <a:t>Westmill Industries Ltd. · Board Review · July 2026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325880"/>
            <a:ext cx="3639312" cy="685800"/>
          </a:xfrm>
          <a:prstGeom prst="roundRect">
            <a:avLst>
              <a:gd name="adj" fmla="val 8000"/>
            </a:avLst>
          </a:prstGeom>
          <a:solidFill>
            <a:srgbClr val="1E2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399032"/>
            <a:ext cx="3291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300" b="1">
                <a:solidFill>
                  <a:srgbClr val="FFFFFF"/>
                </a:solidFill>
                <a:latin typeface="Segoe UI"/>
              </a:rPr>
              <a:t>DEFEND THE CORE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9FC0EE"/>
                </a:solidFill>
                <a:latin typeface="Segoe UI"/>
              </a:rPr>
              <a:t>today's cash engine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148840"/>
            <a:ext cx="3639312" cy="301752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9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331720"/>
            <a:ext cx="329184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050" b="0">
                <a:solidFill>
                  <a:srgbClr val="222833"/>
                </a:solidFill>
                <a:latin typeface="Segoe UI"/>
              </a:rPr>
              <a:t>•  Parts business — the predictable engine we proactively protect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050" b="0">
                <a:solidFill>
                  <a:srgbClr val="222833"/>
                </a:solidFill>
                <a:latin typeface="Segoe UI"/>
              </a:rPr>
              <a:t>•  Maintain excellent customer service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050" b="0">
                <a:solidFill>
                  <a:srgbClr val="222833"/>
                </a:solidFill>
                <a:latin typeface="Segoe UI"/>
              </a:rPr>
              <a:t>•  Deliver new products to existing customers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050" b="0">
                <a:solidFill>
                  <a:srgbClr val="222833"/>
                </a:solidFill>
                <a:latin typeface="Segoe UI"/>
              </a:rPr>
              <a:t>•  Develop new customers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25111" y="1325880"/>
            <a:ext cx="3639312" cy="685800"/>
          </a:xfrm>
          <a:prstGeom prst="roundRect">
            <a:avLst>
              <a:gd name="adj" fmla="val 8000"/>
            </a:avLst>
          </a:prstGeom>
          <a:solidFill>
            <a:srgbClr val="1E2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07991" y="1399032"/>
            <a:ext cx="3291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300" b="1">
                <a:solidFill>
                  <a:srgbClr val="FFFFFF"/>
                </a:solidFill>
                <a:latin typeface="Segoe UI"/>
              </a:rPr>
              <a:t>EXTEND THE ENGINE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9FC0EE"/>
                </a:solidFill>
                <a:latin typeface="Segoe UI"/>
              </a:rPr>
              <a:t>scaling next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25111" y="2148840"/>
            <a:ext cx="3639312" cy="301752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9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07991" y="2331720"/>
            <a:ext cx="329184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050" b="0">
                <a:solidFill>
                  <a:srgbClr val="222833"/>
                </a:solidFill>
                <a:latin typeface="Segoe UI"/>
              </a:rPr>
              <a:t>•  Extend Capital with deeper multi-level customer relationships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050" b="0">
                <a:solidFill>
                  <a:srgbClr val="222833"/>
                </a:solidFill>
                <a:latin typeface="Segoe UI"/>
              </a:rPr>
              <a:t>•  Gypsum — relationships &amp; opportunities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050" b="0">
                <a:solidFill>
                  <a:srgbClr val="222833"/>
                </a:solidFill>
                <a:latin typeface="Segoe UI"/>
              </a:rPr>
              <a:t>•  New products: Veneer Press, Feed-Forward Controls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050" b="0">
                <a:solidFill>
                  <a:srgbClr val="222833"/>
                </a:solidFill>
                <a:latin typeface="Segoe UI"/>
              </a:rPr>
              <a:t>•  Get off the GP blacklist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47302" y="1325880"/>
            <a:ext cx="3639312" cy="685800"/>
          </a:xfrm>
          <a:prstGeom prst="roundRect">
            <a:avLst>
              <a:gd name="adj" fmla="val 8000"/>
            </a:avLst>
          </a:prstGeom>
          <a:solidFill>
            <a:srgbClr val="1E2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30182" y="1399032"/>
            <a:ext cx="3291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300" b="1">
                <a:solidFill>
                  <a:srgbClr val="FFFFFF"/>
                </a:solidFill>
                <a:latin typeface="Segoe UI"/>
              </a:rPr>
              <a:t>EXPLORE NEW MARKETS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9FC0EE"/>
                </a:solidFill>
                <a:latin typeface="Segoe UI"/>
              </a:rPr>
              <a:t>future options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47302" y="2148840"/>
            <a:ext cx="3639312" cy="301752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9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30182" y="2331720"/>
            <a:ext cx="329184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050" b="0">
                <a:solidFill>
                  <a:srgbClr val="222833"/>
                </a:solidFill>
                <a:latin typeface="Segoe UI"/>
              </a:rPr>
              <a:t>•  Lumber — a totally new segment and product set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050" b="0">
                <a:solidFill>
                  <a:srgbClr val="222833"/>
                </a:solidFill>
                <a:latin typeface="Segoe UI"/>
              </a:rPr>
              <a:t>•  Gypsum — full systems we haven't designed or delivered yet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050" b="0">
                <a:solidFill>
                  <a:srgbClr val="222833"/>
                </a:solidFill>
                <a:latin typeface="Segoe UI"/>
              </a:rPr>
              <a:t>•  "Other" dryer markets &amp; new products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5440680"/>
            <a:ext cx="1118311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1E2B4D"/>
                </a:solidFill>
                <a:latin typeface="Segoe UI"/>
              </a:rPr>
              <a:t>Strategy at a glance:  </a:t>
            </a:r>
            <a:r>
              <a:rPr sz="1150" b="0">
                <a:solidFill>
                  <a:srgbClr val="222833"/>
                </a:solidFill>
                <a:latin typeface="Segoe UI"/>
              </a:rPr>
              <a:t>Vision (5–10 yr) → 5-Year Target FY31 ($35M @ 47% GM) → three themes this year → 7 annual goals → quarterly rocks. The further you zoom out, the simpler the message: staff remember the themes; leaders own the rocks.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2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18872"/>
            <a:ext cx="8778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9FC0EE"/>
                </a:solidFill>
                <a:latin typeface="Segoe UI"/>
              </a:rPr>
              <a:t>FY27 VTO · 1-YEAR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47472"/>
            <a:ext cx="89611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300" b="1">
                <a:solidFill>
                  <a:srgbClr val="FFFFFF"/>
                </a:solidFill>
                <a:latin typeface="Segoe UI"/>
              </a:rPr>
              <a:t>FY27 Plan — Revenue Target &amp; 7 Primary Goals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95360" y="118872"/>
            <a:ext cx="310896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9FC0EE"/>
                </a:solidFill>
                <a:latin typeface="Segoe UI"/>
              </a:rPr>
              <a:t>Aligned to FY27 Target budget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9672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5E6A7A"/>
                </a:solidFill>
                <a:latin typeface="Segoe UI"/>
              </a:rPr>
              <a:t>The WESTMILL Way  —  "We've got your back."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0" y="6519672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5E6A7A"/>
                </a:solidFill>
                <a:latin typeface="Segoe UI"/>
              </a:rPr>
              <a:t>Westmill Industries Ltd. · Board Review · July 2026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280160"/>
            <a:ext cx="3639312" cy="1143000"/>
          </a:xfrm>
          <a:prstGeom prst="roundRect">
            <a:avLst>
              <a:gd name="adj" fmla="val 8000"/>
            </a:avLst>
          </a:prstGeom>
          <a:solidFill>
            <a:srgbClr val="E8EFF8"/>
          </a:solidFill>
          <a:ln w="9525">
            <a:solidFill>
              <a:srgbClr val="3B7D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" y="1380744"/>
            <a:ext cx="33832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5E6A7A"/>
                </a:solidFill>
                <a:latin typeface="Segoe UI"/>
              </a:rPr>
              <a:t>FY27 REVENUE TARGET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" y="1609344"/>
            <a:ext cx="3383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100" b="1">
                <a:solidFill>
                  <a:srgbClr val="1E2B4D"/>
                </a:solidFill>
                <a:latin typeface="Segoe UI"/>
              </a:rPr>
              <a:t>$18.86M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" y="1938528"/>
            <a:ext cx="33832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5E6A7A"/>
                </a:solidFill>
                <a:latin typeface="Segoe UI"/>
              </a:rPr>
              <a:t>Matches the Target (Baseline) budget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79392" y="1280160"/>
            <a:ext cx="3639312" cy="114300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9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07408" y="1380744"/>
            <a:ext cx="33832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5E6A7A"/>
                </a:solidFill>
                <a:latin typeface="Segoe UI"/>
              </a:rPr>
              <a:t>CAPITAL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07408" y="1609344"/>
            <a:ext cx="3383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100" b="1">
                <a:solidFill>
                  <a:srgbClr val="1E2B4D"/>
                </a:solidFill>
                <a:latin typeface="Segoe UI"/>
              </a:rPr>
              <a:t>$13.28M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07408" y="1938528"/>
            <a:ext cx="33832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5E6A7A"/>
                </a:solidFill>
                <a:latin typeface="Segoe UI"/>
              </a:rPr>
              <a:t>70% of revenue · $38M orders funnel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55864" y="1280160"/>
            <a:ext cx="3639312" cy="114300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9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83880" y="1380744"/>
            <a:ext cx="33832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5E6A7A"/>
                </a:solidFill>
                <a:latin typeface="Segoe UI"/>
              </a:rPr>
              <a:t>PARTS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83880" y="1609344"/>
            <a:ext cx="3383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100" b="1">
                <a:solidFill>
                  <a:srgbClr val="1E2B4D"/>
                </a:solidFill>
                <a:latin typeface="Segoe UI"/>
              </a:rPr>
              <a:t>$5.58M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83880" y="1938528"/>
            <a:ext cx="33832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5E6A7A"/>
                </a:solidFill>
                <a:latin typeface="Segoe UI"/>
              </a:rPr>
              <a:t>30% of revenue · predictable engine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2697480"/>
            <a:ext cx="2688336" cy="1444752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9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30936" y="2825496"/>
            <a:ext cx="384048" cy="384048"/>
          </a:xfrm>
          <a:prstGeom prst="roundRect">
            <a:avLst>
              <a:gd name="adj" fmla="val 8000"/>
            </a:avLst>
          </a:prstGeom>
          <a:solidFill>
            <a:srgbClr val="3B7D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0936" y="2852928"/>
            <a:ext cx="38404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4712" y="2807208"/>
            <a:ext cx="19659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1E2B4D"/>
                </a:solidFill>
                <a:latin typeface="Segoe UI"/>
              </a:rPr>
              <a:t>Implement Annual Customer Reviews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936" y="3730751"/>
            <a:ext cx="2432304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5E6A7A"/>
                </a:solidFill>
                <a:latin typeface="Segoe UI"/>
              </a:rPr>
              <a:t>George · Jenny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319272" y="2697480"/>
            <a:ext cx="2688336" cy="1444752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9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3447288" y="2825496"/>
            <a:ext cx="384048" cy="384048"/>
          </a:xfrm>
          <a:prstGeom prst="roundRect">
            <a:avLst>
              <a:gd name="adj" fmla="val 8000"/>
            </a:avLst>
          </a:prstGeom>
          <a:solidFill>
            <a:srgbClr val="3B7D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447288" y="2852928"/>
            <a:ext cx="38404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941064" y="2807208"/>
            <a:ext cx="19659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1E2B4D"/>
                </a:solidFill>
                <a:latin typeface="Segoe UI"/>
              </a:rPr>
              <a:t>Standardized PM Process &amp; Eng Systems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47288" y="3730751"/>
            <a:ext cx="2432304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5E6A7A"/>
                </a:solidFill>
                <a:latin typeface="Segoe UI"/>
              </a:rPr>
              <a:t>William · Peter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35624" y="2697480"/>
            <a:ext cx="2688336" cy="1444752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9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263640" y="2825496"/>
            <a:ext cx="384048" cy="384048"/>
          </a:xfrm>
          <a:prstGeom prst="roundRect">
            <a:avLst>
              <a:gd name="adj" fmla="val 8000"/>
            </a:avLst>
          </a:prstGeom>
          <a:solidFill>
            <a:srgbClr val="3B7D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63640" y="2852928"/>
            <a:ext cx="38404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57416" y="2807208"/>
            <a:ext cx="19659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1E2B4D"/>
                </a:solidFill>
                <a:latin typeface="Segoe UI"/>
              </a:rPr>
              <a:t>Parts Growth to $5.5M+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63640" y="3730751"/>
            <a:ext cx="2432304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5E6A7A"/>
                </a:solidFill>
                <a:latin typeface="Segoe UI"/>
              </a:rPr>
              <a:t>Jenny · Evan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951976" y="2697480"/>
            <a:ext cx="2688336" cy="1444752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9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9079992" y="2825496"/>
            <a:ext cx="384048" cy="384048"/>
          </a:xfrm>
          <a:prstGeom prst="roundRect">
            <a:avLst>
              <a:gd name="adj" fmla="val 8000"/>
            </a:avLst>
          </a:prstGeom>
          <a:solidFill>
            <a:srgbClr val="3B7D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079992" y="2852928"/>
            <a:ext cx="38404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573768" y="2807208"/>
            <a:ext cx="19659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1E2B4D"/>
                </a:solidFill>
                <a:latin typeface="Segoe UI"/>
              </a:rPr>
              <a:t>Gypsum / Fiberboard — $1.3M revenue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079992" y="3730751"/>
            <a:ext cx="2432304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5E6A7A"/>
                </a:solidFill>
                <a:latin typeface="Segoe UI"/>
              </a:rPr>
              <a:t>Evan · William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02920" y="4270248"/>
            <a:ext cx="2688336" cy="1444752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9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630936" y="4398264"/>
            <a:ext cx="384048" cy="384048"/>
          </a:xfrm>
          <a:prstGeom prst="roundRect">
            <a:avLst>
              <a:gd name="adj" fmla="val 8000"/>
            </a:avLst>
          </a:prstGeom>
          <a:solidFill>
            <a:srgbClr val="3B7D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30936" y="4425696"/>
            <a:ext cx="38404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Segoe UI"/>
              </a:rPr>
              <a:t>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24712" y="4379976"/>
            <a:ext cx="19659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1E2B4D"/>
                </a:solidFill>
                <a:latin typeface="Segoe UI"/>
              </a:rPr>
              <a:t>Lumber — new market segment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30936" y="5303519"/>
            <a:ext cx="2432304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5E6A7A"/>
                </a:solidFill>
                <a:latin typeface="Segoe UI"/>
              </a:rPr>
              <a:t>Karl · Mike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3319272" y="4270248"/>
            <a:ext cx="2688336" cy="1444752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9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3447288" y="4398264"/>
            <a:ext cx="384048" cy="384048"/>
          </a:xfrm>
          <a:prstGeom prst="roundRect">
            <a:avLst>
              <a:gd name="adj" fmla="val 8000"/>
            </a:avLst>
          </a:prstGeom>
          <a:solidFill>
            <a:srgbClr val="3B7D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447288" y="4425696"/>
            <a:ext cx="38404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Segoe UI"/>
              </a:rPr>
              <a:t>6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941064" y="4379976"/>
            <a:ext cx="19659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1E2B4D"/>
                </a:solidFill>
                <a:latin typeface="Segoe UI"/>
              </a:rPr>
              <a:t>New Product Development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447288" y="5303519"/>
            <a:ext cx="2432304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5E6A7A"/>
                </a:solidFill>
                <a:latin typeface="Segoe UI"/>
              </a:rPr>
              <a:t>William · Mike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135624" y="4270248"/>
            <a:ext cx="2688336" cy="1444752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9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6263640" y="4398264"/>
            <a:ext cx="384048" cy="384048"/>
          </a:xfrm>
          <a:prstGeom prst="roundRect">
            <a:avLst>
              <a:gd name="adj" fmla="val 8000"/>
            </a:avLst>
          </a:prstGeom>
          <a:solidFill>
            <a:srgbClr val="3B7D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263640" y="4425696"/>
            <a:ext cx="38404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Segoe UI"/>
              </a:rPr>
              <a:t>7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757416" y="4379976"/>
            <a:ext cx="19659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1E2B4D"/>
                </a:solidFill>
                <a:latin typeface="Segoe UI"/>
              </a:rPr>
              <a:t>Deliver Budget &amp; Internal Systems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263640" y="5303519"/>
            <a:ext cx="2432304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5E6A7A"/>
                </a:solidFill>
                <a:latin typeface="Segoe UI"/>
              </a:rPr>
              <a:t>Urvi · Peter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8951976" y="4270248"/>
            <a:ext cx="2688336" cy="1444752"/>
          </a:xfrm>
          <a:prstGeom prst="roundRect">
            <a:avLst>
              <a:gd name="adj" fmla="val 80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116568" y="4471416"/>
            <a:ext cx="23774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1E2B4D"/>
                </a:solidFill>
                <a:latin typeface="Segoe UI"/>
              </a:rPr>
              <a:t>7 SMART goals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222833"/>
                </a:solidFill>
                <a:latin typeface="Segoe UI"/>
              </a:rPr>
              <a:t>across 4 quarters, each advancing the three themes concurrently.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2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18872"/>
            <a:ext cx="8778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9FC0EE"/>
                </a:solidFill>
                <a:latin typeface="Segoe UI"/>
              </a:rPr>
              <a:t>FY27 VTO · GOALS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47472"/>
            <a:ext cx="89611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300" b="1">
                <a:solidFill>
                  <a:srgbClr val="FFFFFF"/>
                </a:solidFill>
                <a:latin typeface="Segoe UI"/>
              </a:rPr>
              <a:t>The 7 Annual Goals — Owners &amp; 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9672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5E6A7A"/>
                </a:solidFill>
                <a:latin typeface="Segoe UI"/>
              </a:rPr>
              <a:t>The WESTMILL Way  —  "We've got your back."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0" y="6519672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5E6A7A"/>
                </a:solidFill>
                <a:latin typeface="Segoe UI"/>
              </a:rPr>
              <a:t>Westmill Industries Ltd. · Board Review · July 2026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325880"/>
          <a:ext cx="11183110" cy="485546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14189"/>
                <a:gridCol w="2692230"/>
                <a:gridCol w="1553210"/>
                <a:gridCol w="6523481"/>
              </a:tblGrid>
              <a:tr h="310896"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Segoe UI"/>
                        </a:rPr>
                        <a:t>#</a:t>
                      </a:r>
                    </a:p>
                  </a:txBody>
                  <a:tcPr marL="64008" marR="64008" marT="13716" marB="13716" anchor="ctr">
                    <a:solidFill>
                      <a:srgbClr val="1E2B4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Segoe UI"/>
                        </a:rPr>
                        <a:t>Goal</a:t>
                      </a:r>
                    </a:p>
                  </a:txBody>
                  <a:tcPr marL="64008" marR="64008" marT="13716" marB="13716" anchor="ctr">
                    <a:solidFill>
                      <a:srgbClr val="1E2B4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Segoe UI"/>
                        </a:rPr>
                        <a:t>Primary / Secondary</a:t>
                      </a:r>
                    </a:p>
                  </a:txBody>
                  <a:tcPr marL="64008" marR="64008" marT="13716" marB="13716" anchor="ctr">
                    <a:solidFill>
                      <a:srgbClr val="1E2B4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Segoe UI"/>
                        </a:rPr>
                        <a:t>What it delivers in FY27</a:t>
                      </a:r>
                    </a:p>
                  </a:txBody>
                  <a:tcPr marL="64008" marR="64008" marT="13716" marB="13716" anchor="ctr">
                    <a:solidFill>
                      <a:srgbClr val="1E2B4D"/>
                    </a:solidFill>
                  </a:tcPr>
                </a:tc>
              </a:tr>
              <a:tr h="649224"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22833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2833"/>
                          </a:solidFill>
                          <a:latin typeface="Segoe UI"/>
                        </a:rPr>
                        <a:t>Implement Annual Customer Reviews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2833"/>
                          </a:solidFill>
                          <a:latin typeface="Segoe UI"/>
                        </a:rPr>
                        <a:t>George / Jenny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2833"/>
                          </a:solidFill>
                          <a:latin typeface="Segoe UI"/>
                        </a:rPr>
                        <a:t>Structured annual reviews with key accounts on the MEDDIC framework — deeper corporate intelligence, partner (not supplier) relationships.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</a:tr>
              <a:tr h="649224"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22833"/>
                          </a:solidFill>
                          <a:latin typeface="Segoe UI"/>
                        </a:rPr>
                        <a:t>2</a:t>
                      </a:r>
                    </a:p>
                  </a:txBody>
                  <a:tcPr marL="64008" marR="64008" marT="13716" marB="13716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2833"/>
                          </a:solidFill>
                          <a:latin typeface="Segoe UI"/>
                        </a:rPr>
                        <a:t>Standardized PM Process &amp; Eng Systems</a:t>
                      </a:r>
                    </a:p>
                  </a:txBody>
                  <a:tcPr marL="64008" marR="64008" marT="13716" marB="13716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2833"/>
                          </a:solidFill>
                          <a:latin typeface="Segoe UI"/>
                        </a:rPr>
                        <a:t>William / Peter</a:t>
                      </a:r>
                    </a:p>
                  </a:txBody>
                  <a:tcPr marL="64008" marR="64008" marT="13716" marB="13716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2833"/>
                          </a:solidFill>
                          <a:latin typeface="Segoe UI"/>
                        </a:rPr>
                        <a:t>Standard WBS-driven execution process — requirements → BOM → scope → tracked tasks; PDM redesigned for a frictionless workflow; target-vs-actual proof.</a:t>
                      </a:r>
                    </a:p>
                  </a:txBody>
                  <a:tcPr marL="64008" marR="64008" marT="13716" marB="13716" anchor="ctr">
                    <a:solidFill>
                      <a:srgbClr val="F5F7FA"/>
                    </a:solidFill>
                  </a:tcPr>
                </a:tc>
              </a:tr>
              <a:tr h="649224"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22833"/>
                          </a:solidFill>
                          <a:latin typeface="Segoe UI"/>
                        </a:rPr>
                        <a:t>3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2833"/>
                          </a:solidFill>
                          <a:latin typeface="Segoe UI"/>
                        </a:rPr>
                        <a:t>Parts Growth to $5.5M+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2833"/>
                          </a:solidFill>
                          <a:latin typeface="Segoe UI"/>
                        </a:rPr>
                        <a:t>Jenny / Evan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2833"/>
                          </a:solidFill>
                          <a:latin typeface="Segoe UI"/>
                        </a:rPr>
                        <a:t>Build on FY26 $5.3M actual (budget $4M). Outbound via Evan opens doors; inbound support proves the model. Primary-vendor position defended.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</a:tr>
              <a:tr h="649224"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22833"/>
                          </a:solidFill>
                          <a:latin typeface="Segoe UI"/>
                        </a:rPr>
                        <a:t>4</a:t>
                      </a:r>
                    </a:p>
                  </a:txBody>
                  <a:tcPr marL="64008" marR="64008" marT="13716" marB="13716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2833"/>
                          </a:solidFill>
                          <a:latin typeface="Segoe UI"/>
                        </a:rPr>
                        <a:t>Gypsum / Fiberboard</a:t>
                      </a:r>
                    </a:p>
                  </a:txBody>
                  <a:tcPr marL="64008" marR="64008" marT="13716" marB="13716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2833"/>
                          </a:solidFill>
                          <a:latin typeface="Segoe UI"/>
                        </a:rPr>
                        <a:t>Evan / William</a:t>
                      </a:r>
                    </a:p>
                  </a:txBody>
                  <a:tcPr marL="64008" marR="64008" marT="13716" marB="13716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2833"/>
                          </a:solidFill>
                          <a:latin typeface="Segoe UI"/>
                        </a:rPr>
                        <a:t>$1.3M CAD Gypsum/Fiberboard revenue in FY27; parts as the entry point; 2–3 qualified capital prospects with proposals by year-end.</a:t>
                      </a:r>
                    </a:p>
                  </a:txBody>
                  <a:tcPr marL="64008" marR="64008" marT="13716" marB="13716" anchor="ctr">
                    <a:solidFill>
                      <a:srgbClr val="F5F7FA"/>
                    </a:solidFill>
                  </a:tcPr>
                </a:tc>
              </a:tr>
              <a:tr h="649224"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22833"/>
                          </a:solidFill>
                          <a:latin typeface="Segoe UI"/>
                        </a:rPr>
                        <a:t>5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2833"/>
                          </a:solidFill>
                          <a:latin typeface="Segoe UI"/>
                        </a:rPr>
                        <a:t>Lumber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2833"/>
                          </a:solidFill>
                          <a:latin typeface="Segoe UI"/>
                        </a:rPr>
                        <a:t>Karl / Mike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2833"/>
                          </a:solidFill>
                          <a:latin typeface="Segoe UI"/>
                        </a:rPr>
                        <a:t>Enter lumber drying via Jartek / Valutec partnerships — commercial terms, funnel, and a dedicated sales lead (pending business case).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</a:tr>
              <a:tr h="649224"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22833"/>
                          </a:solidFill>
                          <a:latin typeface="Segoe UI"/>
                        </a:rPr>
                        <a:t>6</a:t>
                      </a:r>
                    </a:p>
                  </a:txBody>
                  <a:tcPr marL="64008" marR="64008" marT="13716" marB="13716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2833"/>
                          </a:solidFill>
                          <a:latin typeface="Segoe UI"/>
                        </a:rPr>
                        <a:t>New Product Development</a:t>
                      </a:r>
                    </a:p>
                  </a:txBody>
                  <a:tcPr marL="64008" marR="64008" marT="13716" marB="13716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2833"/>
                          </a:solidFill>
                          <a:latin typeface="Segoe UI"/>
                        </a:rPr>
                        <a:t>William / Mike</a:t>
                      </a:r>
                    </a:p>
                  </a:txBody>
                  <a:tcPr marL="64008" marR="64008" marT="13716" marB="13716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2833"/>
                          </a:solidFill>
                          <a:latin typeface="Segoe UI"/>
                        </a:rPr>
                        <a:t>Advance Veneer Press &amp; Feed-Forward Controls; gypsum parts &amp; systems; Westmill-manufactured tadpole seals and saw chains.</a:t>
                      </a:r>
                    </a:p>
                  </a:txBody>
                  <a:tcPr marL="64008" marR="64008" marT="13716" marB="13716" anchor="ctr">
                    <a:solidFill>
                      <a:srgbClr val="F5F7FA"/>
                    </a:solidFill>
                  </a:tcPr>
                </a:tc>
              </a:tr>
              <a:tr h="649224"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22833"/>
                          </a:solidFill>
                          <a:latin typeface="Segoe UI"/>
                        </a:rPr>
                        <a:t>7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2833"/>
                          </a:solidFill>
                          <a:latin typeface="Segoe UI"/>
                        </a:rPr>
                        <a:t>Deliver Budget &amp; Internal Systems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2833"/>
                          </a:solidFill>
                          <a:latin typeface="Segoe UI"/>
                        </a:rPr>
                        <a:t>Urvi / Peter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2833"/>
                          </a:solidFill>
                          <a:latin typeface="Segoe UI"/>
                        </a:rPr>
                        <a:t>Monthly budget discipline and better forecasting; SharePoint knowledge base replaces z:/ drive; AI &amp; Power Platform cut bureaucracy.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2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18872"/>
            <a:ext cx="8778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9FC0EE"/>
                </a:solidFill>
                <a:latin typeface="Segoe UI"/>
              </a:rPr>
              <a:t>FY27 VTO · TRACTION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47472"/>
            <a:ext cx="89611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300" b="1">
                <a:solidFill>
                  <a:srgbClr val="FFFFFF"/>
                </a:solidFill>
                <a:latin typeface="Segoe UI"/>
              </a:rPr>
              <a:t>Quarterly Rocks — Goal × Quarter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95360" y="118872"/>
            <a:ext cx="310896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9FC0EE"/>
                </a:solidFill>
                <a:latin typeface="Segoe UI"/>
              </a:rPr>
              <a:t>Rock titles · owners per goal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9672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5E6A7A"/>
                </a:solidFill>
                <a:latin typeface="Segoe UI"/>
              </a:rPr>
              <a:t>The WESTMILL Way  —  "We've got your back."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0" y="6519672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5E6A7A"/>
                </a:solidFill>
                <a:latin typeface="Segoe UI"/>
              </a:rPr>
              <a:t>Westmill Industries Ltd. · Board Review · July 2026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280160"/>
          <a:ext cx="11183108" cy="464515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10736"/>
                <a:gridCol w="2393093"/>
                <a:gridCol w="2393093"/>
                <a:gridCol w="2393093"/>
                <a:gridCol w="2393093"/>
              </a:tblGrid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Segoe UI"/>
                        </a:rPr>
                        <a:t>Goal</a:t>
                      </a:r>
                    </a:p>
                  </a:txBody>
                  <a:tcPr marL="64008" marR="64008" marT="13716" marB="13716" anchor="ctr">
                    <a:solidFill>
                      <a:srgbClr val="1E2B4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Segoe UI"/>
                        </a:rPr>
                        <a:t>Q1</a:t>
                      </a:r>
                    </a:p>
                  </a:txBody>
                  <a:tcPr marL="64008" marR="64008" marT="13716" marB="13716" anchor="ctr">
                    <a:solidFill>
                      <a:srgbClr val="1E2B4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Segoe UI"/>
                        </a:rPr>
                        <a:t>Q2</a:t>
                      </a:r>
                    </a:p>
                  </a:txBody>
                  <a:tcPr marL="64008" marR="64008" marT="13716" marB="13716" anchor="ctr">
                    <a:solidFill>
                      <a:srgbClr val="1E2B4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Segoe UI"/>
                        </a:rPr>
                        <a:t>Q3</a:t>
                      </a:r>
                    </a:p>
                  </a:txBody>
                  <a:tcPr marL="64008" marR="64008" marT="13716" marB="13716" anchor="ctr">
                    <a:solidFill>
                      <a:srgbClr val="1E2B4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Segoe UI"/>
                        </a:rPr>
                        <a:t>Q4</a:t>
                      </a:r>
                    </a:p>
                  </a:txBody>
                  <a:tcPr marL="64008" marR="64008" marT="13716" marB="13716" anchor="ctr">
                    <a:solidFill>
                      <a:srgbClr val="1E2B4D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22833"/>
                          </a:solidFill>
                          <a:latin typeface="Segoe UI"/>
                        </a:rPr>
                        <a:t>1 · Customer Reviews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22833"/>
                          </a:solidFill>
                          <a:latin typeface="Segoe UI"/>
                        </a:rPr>
                        <a:t>Develop target list &amp; delivery plan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22833"/>
                          </a:solidFill>
                          <a:latin typeface="Segoe UI"/>
                        </a:rPr>
                        <a:t>Reviews run per plan →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22833"/>
                          </a:solidFill>
                          <a:latin typeface="Segoe UI"/>
                        </a:rPr>
                        <a:t>→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22833"/>
                          </a:solidFill>
                          <a:latin typeface="Segoe UI"/>
                        </a:rPr>
                        <a:t>→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22833"/>
                          </a:solidFill>
                          <a:latin typeface="Segoe UI"/>
                        </a:rPr>
                        <a:t>2 · PM &amp; PDM</a:t>
                      </a:r>
                    </a:p>
                  </a:txBody>
                  <a:tcPr marL="64008" marR="64008" marT="13716" marB="13716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22833"/>
                          </a:solidFill>
                          <a:latin typeface="Segoe UI"/>
                        </a:rPr>
                        <a:t>Process pain audit (Sales→Eng→Purch→ERP)</a:t>
                      </a:r>
                    </a:p>
                  </a:txBody>
                  <a:tcPr marL="64008" marR="64008" marT="13716" marB="13716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22833"/>
                          </a:solidFill>
                          <a:latin typeface="Segoe UI"/>
                        </a:rPr>
                        <a:t>Released-parts system &amp; active parts migration</a:t>
                      </a:r>
                    </a:p>
                  </a:txBody>
                  <a:tcPr marL="64008" marR="64008" marT="13716" marB="13716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22833"/>
                          </a:solidFill>
                          <a:latin typeface="Segoe UI"/>
                        </a:rPr>
                        <a:t>Project process documented; performance transparency</a:t>
                      </a:r>
                    </a:p>
                  </a:txBody>
                  <a:tcPr marL="64008" marR="64008" marT="13716" marB="13716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22833"/>
                          </a:solidFill>
                          <a:latin typeface="Segoe UI"/>
                        </a:rPr>
                        <a:t>Close gaps &amp; end-to-end onboarding</a:t>
                      </a:r>
                    </a:p>
                  </a:txBody>
                  <a:tcPr marL="64008" marR="64008" marT="13716" marB="13716" anchor="ctr">
                    <a:solidFill>
                      <a:srgbClr val="F5F7FA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22833"/>
                          </a:solidFill>
                          <a:latin typeface="Segoe UI"/>
                        </a:rPr>
                        <a:t>3 · Parts Growth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22833"/>
                          </a:solidFill>
                          <a:latin typeface="Segoe UI"/>
                        </a:rPr>
                        <a:t>Customer recon &amp; anticipate needs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22833"/>
                          </a:solidFill>
                          <a:latin typeface="Segoe UI"/>
                        </a:rPr>
                        <a:t>Block Saw Chain Ph. 1 &amp; Tadpole marketing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22833"/>
                          </a:solidFill>
                          <a:latin typeface="Segoe UI"/>
                        </a:rPr>
                        <a:t>Block Saw Chain Ph. 2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22833"/>
                          </a:solidFill>
                          <a:latin typeface="Segoe UI"/>
                        </a:rPr>
                        <a:t>Sustained relationship building; 8–10 plant visits/qtr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22833"/>
                          </a:solidFill>
                          <a:latin typeface="Segoe UI"/>
                        </a:rPr>
                        <a:t>4 · Gypsum/Fiberboard</a:t>
                      </a:r>
                    </a:p>
                  </a:txBody>
                  <a:tcPr marL="64008" marR="64008" marT="13716" marB="13716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22833"/>
                          </a:solidFill>
                          <a:latin typeface="Segoe UI"/>
                        </a:rPr>
                        <a:t>Expand contacts; deliver for GP · $328K booked</a:t>
                      </a:r>
                    </a:p>
                  </a:txBody>
                  <a:tcPr marL="64008" marR="64008" marT="13716" marB="13716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22833"/>
                          </a:solidFill>
                          <a:latin typeface="Segoe UI"/>
                        </a:rPr>
                        <a:t>12 sales + 2 eng visits · cum. $635K</a:t>
                      </a:r>
                    </a:p>
                  </a:txBody>
                  <a:tcPr marL="64008" marR="64008" marT="13716" marB="13716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22833"/>
                          </a:solidFill>
                          <a:latin typeface="Segoe UI"/>
                        </a:rPr>
                        <a:t>Formal Gypsum dryer spec · cum. $963K</a:t>
                      </a:r>
                    </a:p>
                  </a:txBody>
                  <a:tcPr marL="64008" marR="64008" marT="13716" marB="13716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22833"/>
                          </a:solidFill>
                          <a:latin typeface="Segoe UI"/>
                        </a:rPr>
                        <a:t>AKI knowledge base; appoint expert · cum. $1.3M</a:t>
                      </a:r>
                    </a:p>
                  </a:txBody>
                  <a:tcPr marL="64008" marR="64008" marT="13716" marB="13716" anchor="ctr">
                    <a:solidFill>
                      <a:srgbClr val="F5F7FA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22833"/>
                          </a:solidFill>
                          <a:latin typeface="Segoe UI"/>
                        </a:rPr>
                        <a:t>5 · Lumber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22833"/>
                          </a:solidFill>
                          <a:latin typeface="Segoe UI"/>
                        </a:rPr>
                        <a:t>Commercial terms (Jartek/Valutec); start recruitment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22833"/>
                          </a:solidFill>
                          <a:latin typeface="Segoe UI"/>
                        </a:rPr>
                        <a:t>Develop the working relationship; set funnel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22833"/>
                          </a:solidFill>
                          <a:latin typeface="Segoe UI"/>
                        </a:rPr>
                        <a:t>Sales lead on board; first cost review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22833"/>
                          </a:solidFill>
                          <a:latin typeface="Segoe UI"/>
                        </a:rPr>
                        <a:t>Push toward first commercial wins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22833"/>
                          </a:solidFill>
                          <a:latin typeface="Segoe UI"/>
                        </a:rPr>
                        <a:t>6 · New Products</a:t>
                      </a:r>
                    </a:p>
                  </a:txBody>
                  <a:tcPr marL="64008" marR="64008" marT="13716" marB="13716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22833"/>
                          </a:solidFill>
                          <a:latin typeface="Segoe UI"/>
                        </a:rPr>
                        <a:t>Squeezer spec &amp; Tadpole first articles</a:t>
                      </a:r>
                    </a:p>
                  </a:txBody>
                  <a:tcPr marL="64008" marR="64008" marT="13716" marB="13716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22833"/>
                          </a:solidFill>
                          <a:latin typeface="Segoe UI"/>
                        </a:rPr>
                        <a:t>Equalizer chain test &amp; Tadpole deployment</a:t>
                      </a:r>
                    </a:p>
                  </a:txBody>
                  <a:tcPr marL="64008" marR="64008" marT="13716" marB="13716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22833"/>
                          </a:solidFill>
                          <a:latin typeface="Segoe UI"/>
                        </a:rPr>
                        <a:t>Feed-Forward control modeling</a:t>
                      </a:r>
                    </a:p>
                  </a:txBody>
                  <a:tcPr marL="64008" marR="64008" marT="13716" marB="13716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22833"/>
                          </a:solidFill>
                          <a:latin typeface="Segoe UI"/>
                        </a:rPr>
                        <a:t>10× new gypsum parts delivered</a:t>
                      </a:r>
                    </a:p>
                  </a:txBody>
                  <a:tcPr marL="64008" marR="64008" marT="13716" marB="13716" anchor="ctr">
                    <a:solidFill>
                      <a:srgbClr val="F5F7FA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22833"/>
                          </a:solidFill>
                          <a:latin typeface="Segoe UI"/>
                        </a:rPr>
                        <a:t>7 · Budget &amp; Systems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22833"/>
                          </a:solidFill>
                          <a:latin typeface="Segoe UI"/>
                        </a:rPr>
                        <a:t>Forecasting, SharePoint architecture, Acumatica map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22833"/>
                          </a:solidFill>
                          <a:latin typeface="Segoe UI"/>
                        </a:rPr>
                        <a:t>Z-drive migration underway; AI candidates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22833"/>
                          </a:solidFill>
                          <a:latin typeface="Segoe UI"/>
                        </a:rPr>
                        <a:t>Z-drive retired (final); AI automation live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22833"/>
                          </a:solidFill>
                          <a:latin typeface="Segoe UI"/>
                        </a:rPr>
                        <a:t>Single source of truth; measured savings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02920" y="6080760"/>
            <a:ext cx="1118311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5E6A7A"/>
                </a:solidFill>
                <a:latin typeface="Segoe UI"/>
              </a:rPr>
              <a:t>Goal 1 rocks for Q2–Q4 follow the Q1 delivery plan (reviews scheduled across Q2, Q3, Q4). Gypsum revenue milestones are quarterly bookings toward the $1.3M FY27 target.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2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18872"/>
            <a:ext cx="8778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9FC0EE"/>
                </a:solidFill>
                <a:latin typeface="Segoe UI"/>
              </a:rPr>
              <a:t>FY27 VTO · FIRST 90 DAYS (JUL–SEP)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47472"/>
            <a:ext cx="89611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300" b="1">
                <a:solidFill>
                  <a:srgbClr val="FFFFFF"/>
                </a:solidFill>
                <a:latin typeface="Segoe UI"/>
              </a:rPr>
              <a:t>Q1 FY27 Rocks — The First 90 Days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9672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5E6A7A"/>
                </a:solidFill>
                <a:latin typeface="Segoe UI"/>
              </a:rPr>
              <a:t>The WESTMILL Way  —  "We've got your back."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0" y="6519672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5E6A7A"/>
                </a:solidFill>
                <a:latin typeface="Segoe UI"/>
              </a:rPr>
              <a:t>Westmill Industries Ltd. · Board Review · July 2026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234440"/>
            <a:ext cx="11183112" cy="658368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9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298448"/>
            <a:ext cx="2148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3B7DD8"/>
                </a:solidFill>
                <a:latin typeface="Segoe UI"/>
              </a:rPr>
              <a:t>1 · Customer Reviews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80360" y="1298448"/>
            <a:ext cx="26517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1E2B4D"/>
                </a:solidFill>
                <a:latin typeface="Segoe UI"/>
              </a:rPr>
              <a:t>Develop Target List &amp; Delivery Plan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23560" y="1298448"/>
            <a:ext cx="58978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222833"/>
                </a:solidFill>
                <a:latin typeface="Segoe UI"/>
              </a:rPr>
              <a:t>Key/blocked accounts identified (incl. GP) · corporate knowledge documented · strategy per review · FY27 plan for Q2–Q4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1965960"/>
            <a:ext cx="11183112" cy="658368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9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029968"/>
            <a:ext cx="2148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3B7DD8"/>
                </a:solidFill>
                <a:latin typeface="Segoe UI"/>
              </a:rPr>
              <a:t>2 · PM &amp; PDM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80360" y="2029968"/>
            <a:ext cx="26517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1E2B4D"/>
                </a:solidFill>
                <a:latin typeface="Segoe UI"/>
              </a:rPr>
              <a:t>Process Pain Audit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23560" y="2029968"/>
            <a:ext cx="58978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222833"/>
                </a:solidFill>
                <a:latin typeface="Segoe UI"/>
              </a:rPr>
              <a:t>Map hand-off breakdowns Sales→Eng→Purchasing→ERP · quantify Vault BOM costs · evaluate OnShape vs Vault · pilot real BOM · go/no-go on PDM path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2697480"/>
            <a:ext cx="11183112" cy="658368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9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2761488"/>
            <a:ext cx="2148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3B7DD8"/>
                </a:solidFill>
                <a:latin typeface="Segoe UI"/>
              </a:rPr>
              <a:t>3 · Parts Growth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80360" y="2761488"/>
            <a:ext cx="26517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1E2B4D"/>
                </a:solidFill>
                <a:latin typeface="Segoe UI"/>
              </a:rPr>
              <a:t>Customer Recon &amp; Anticipated Needs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23560" y="2761488"/>
            <a:ext cx="58978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222833"/>
                </a:solidFill>
                <a:latin typeface="Segoe UI"/>
              </a:rPr>
              <a:t>Recon map extended (veneer + gypsum) · maintenance schedules documented · offer-scheduling tool · 8–10 plant visits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3429000"/>
            <a:ext cx="11183112" cy="658368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9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3493008"/>
            <a:ext cx="2148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3B7DD8"/>
                </a:solidFill>
                <a:latin typeface="Segoe UI"/>
              </a:rPr>
              <a:t>4 · Gypsum/Fiberboard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80360" y="3493008"/>
            <a:ext cx="26517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1E2B4D"/>
                </a:solidFill>
                <a:latin typeface="Segoe UI"/>
              </a:rPr>
              <a:t>Expand Contacts · Deliver for GP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23560" y="3493008"/>
            <a:ext cx="58978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222833"/>
                </a:solidFill>
                <a:latin typeface="Segoe UI"/>
              </a:rPr>
              <a:t>Mill equipment database · ~20 dryers input · 6 sales + 1 eng visits · GP Savannah: 3× Grenz dryer solutions · $328K revenue booked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4160520"/>
            <a:ext cx="11183112" cy="658368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9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4224528"/>
            <a:ext cx="2148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3B7DD8"/>
                </a:solidFill>
                <a:latin typeface="Segoe UI"/>
              </a:rPr>
              <a:t>5 · Lumber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880360" y="4224528"/>
            <a:ext cx="26517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1E2B4D"/>
                </a:solidFill>
                <a:latin typeface="Segoe UI"/>
              </a:rPr>
              <a:t>Commercial Terms &amp; Recruitment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23560" y="4224528"/>
            <a:ext cx="58978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222833"/>
                </a:solidFill>
                <a:latin typeface="Segoe UI"/>
              </a:rPr>
              <a:t>WFP commissioning · terms agreed with Jartek &amp; Valutec · business case approval · Sales Lead recruitment starts · Sweden wood show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2920" y="4892040"/>
            <a:ext cx="11183112" cy="658368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9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5800" y="4956048"/>
            <a:ext cx="2148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3B7DD8"/>
                </a:solidFill>
                <a:latin typeface="Segoe UI"/>
              </a:rPr>
              <a:t>6 · New Products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880360" y="4956048"/>
            <a:ext cx="26517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1E2B4D"/>
                </a:solidFill>
                <a:latin typeface="Segoe UI"/>
              </a:rPr>
              <a:t>Squeezer Spec &amp; Tadpole FA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23560" y="4956048"/>
            <a:ext cx="58978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222833"/>
                </a:solidFill>
                <a:latin typeface="Segoe UI"/>
              </a:rPr>
              <a:t>Squeezer engineering package ready for adoption · Tadpole first articles in hand, performance validated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02920" y="5623559"/>
            <a:ext cx="11183112" cy="658368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9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5800" y="5687568"/>
            <a:ext cx="2148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3B7DD8"/>
                </a:solidFill>
                <a:latin typeface="Segoe UI"/>
              </a:rPr>
              <a:t>7 · Budget &amp; Systems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880360" y="5687568"/>
            <a:ext cx="26517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1E2B4D"/>
                </a:solidFill>
                <a:latin typeface="Segoe UI"/>
              </a:rPr>
              <a:t>Forecasting, SharePoint &amp; Acumatica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23560" y="5687568"/>
            <a:ext cx="58978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222833"/>
                </a:solidFill>
                <a:latin typeface="Segoe UI"/>
              </a:rPr>
              <a:t>Month-to-month project forecasting · SharePoint architecture agreed, z:/ audit started · Acumatica financial process map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05156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3B7DD8"/>
                </a:solidFill>
                <a:latin typeface="Segoe UI"/>
              </a:rPr>
              <a:t>SUMMARY &amp; BOARD ASKS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691640"/>
            <a:ext cx="64008" cy="896112"/>
          </a:xfrm>
          <a:prstGeom prst="rect">
            <a:avLst/>
          </a:prstGeom>
          <a:solidFill>
            <a:srgbClr val="3B7D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1673352"/>
            <a:ext cx="102412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Segoe UI"/>
              </a:rPr>
              <a:t>FY26 delivered.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C9D5EA"/>
                </a:solidFill>
                <a:latin typeface="Segoe UI"/>
              </a:rPr>
              <a:t>Sales $17.89M (119% of budget), pre-tax NI $4.46M (207% of budget), after-tax NI $3.36M. Clean balance sheet: $4.98M cash, no debt, deal-basis NWC averaging 6.4% of sales.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807208"/>
            <a:ext cx="64008" cy="896112"/>
          </a:xfrm>
          <a:prstGeom prst="rect">
            <a:avLst/>
          </a:prstGeom>
          <a:solidFill>
            <a:srgbClr val="3B7D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2788920"/>
            <a:ext cx="102412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Segoe UI"/>
              </a:rPr>
              <a:t>FY27 Target budget for approval.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C9D5EA"/>
                </a:solidFill>
                <a:latin typeface="Segoe UI"/>
              </a:rPr>
              <a:t>Revenue $18.86M · gross profit $7.98M (42%) · core OPEX $3.71M (−5% vs FY26 budget) · EBIT $4.27M (23%). Scenario range: $0.44M EBIT Downside → $8.22M Blue Sky.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3922776"/>
            <a:ext cx="64008" cy="896112"/>
          </a:xfrm>
          <a:prstGeom prst="rect">
            <a:avLst/>
          </a:prstGeom>
          <a:solidFill>
            <a:srgbClr val="3B7D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3904488"/>
            <a:ext cx="102412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Segoe UI"/>
              </a:rPr>
              <a:t>Strategic investment held for business case.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C9D5EA"/>
                </a:solidFill>
                <a:latin typeface="Segoe UI"/>
              </a:rPr>
              <a:t>$240K lumber sales resource excluded from the budget; formal business case to the board before Q2 recruitment, contingent on Target tracking on plan.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5038344"/>
            <a:ext cx="64008" cy="896112"/>
          </a:xfrm>
          <a:prstGeom prst="rect">
            <a:avLst/>
          </a:prstGeom>
          <a:solidFill>
            <a:srgbClr val="3B7D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5020056"/>
            <a:ext cx="102412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Segoe UI"/>
              </a:rPr>
              <a:t>FY27 VTO in motion.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C9D5EA"/>
                </a:solidFill>
                <a:latin typeface="Segoe UI"/>
              </a:rPr>
              <a:t>7 goals, owner-assigned rocks each quarter, aligned to the 3-Year Picture (FY29) and the 5-Year Target: $35M @ 47% GM with Parts covering core OPEX.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621792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9FC0EE"/>
                </a:solidFill>
                <a:latin typeface="Segoe UI"/>
              </a:rPr>
              <a:t>The WESTMILL Way  —  "We've got your back."   ·   Westmill Industries Ltd. · Board Review · July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